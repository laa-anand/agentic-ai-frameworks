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0" r:id="rId1"/>
  </p:sldMasterIdLst>
  <p:notesMasterIdLst>
    <p:notesMasterId r:id="rId57"/>
  </p:notesMasterIdLst>
  <p:sldIdLst>
    <p:sldId id="256" r:id="rId2"/>
    <p:sldId id="405" r:id="rId3"/>
    <p:sldId id="430" r:id="rId4"/>
    <p:sldId id="431" r:id="rId5"/>
    <p:sldId id="432" r:id="rId6"/>
    <p:sldId id="428" r:id="rId7"/>
    <p:sldId id="422" r:id="rId8"/>
    <p:sldId id="423" r:id="rId9"/>
    <p:sldId id="424" r:id="rId10"/>
    <p:sldId id="406" r:id="rId11"/>
    <p:sldId id="407" r:id="rId12"/>
    <p:sldId id="408" r:id="rId13"/>
    <p:sldId id="427" r:id="rId14"/>
    <p:sldId id="429" r:id="rId15"/>
    <p:sldId id="409" r:id="rId16"/>
    <p:sldId id="410" r:id="rId17"/>
    <p:sldId id="425" r:id="rId18"/>
    <p:sldId id="426" r:id="rId19"/>
    <p:sldId id="413" r:id="rId20"/>
    <p:sldId id="414" r:id="rId21"/>
    <p:sldId id="412" r:id="rId22"/>
    <p:sldId id="415" r:id="rId23"/>
    <p:sldId id="416" r:id="rId24"/>
    <p:sldId id="418" r:id="rId25"/>
    <p:sldId id="419" r:id="rId26"/>
    <p:sldId id="420" r:id="rId27"/>
    <p:sldId id="421" r:id="rId28"/>
    <p:sldId id="433" r:id="rId29"/>
    <p:sldId id="434" r:id="rId30"/>
    <p:sldId id="435" r:id="rId31"/>
    <p:sldId id="436" r:id="rId32"/>
    <p:sldId id="437" r:id="rId33"/>
    <p:sldId id="438" r:id="rId34"/>
    <p:sldId id="439" r:id="rId35"/>
    <p:sldId id="440" r:id="rId36"/>
    <p:sldId id="441" r:id="rId37"/>
    <p:sldId id="443" r:id="rId38"/>
    <p:sldId id="444" r:id="rId39"/>
    <p:sldId id="445" r:id="rId40"/>
    <p:sldId id="446" r:id="rId41"/>
    <p:sldId id="447" r:id="rId42"/>
    <p:sldId id="448" r:id="rId43"/>
    <p:sldId id="449" r:id="rId44"/>
    <p:sldId id="450" r:id="rId45"/>
    <p:sldId id="451" r:id="rId46"/>
    <p:sldId id="452" r:id="rId47"/>
    <p:sldId id="453" r:id="rId48"/>
    <p:sldId id="454" r:id="rId49"/>
    <p:sldId id="455" r:id="rId50"/>
    <p:sldId id="456" r:id="rId51"/>
    <p:sldId id="457" r:id="rId52"/>
    <p:sldId id="458" r:id="rId53"/>
    <p:sldId id="459" r:id="rId54"/>
    <p:sldId id="460" r:id="rId55"/>
    <p:sldId id="319"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02C0"/>
    <a:srgbClr val="D300F6"/>
    <a:srgbClr val="F2A3FF"/>
    <a:srgbClr val="2597FF"/>
    <a:srgbClr val="FF9E1D"/>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4660"/>
  </p:normalViewPr>
  <p:slideViewPr>
    <p:cSldViewPr>
      <p:cViewPr varScale="1">
        <p:scale>
          <a:sx n="101" d="100"/>
          <a:sy n="101" d="100"/>
        </p:scale>
        <p:origin x="960" y="90"/>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90A830-73C8-4C23-B7DE-AC819120913E}" type="datetimeFigureOut">
              <a:rPr lang="en-IN" smtClean="0"/>
              <a:t>26-08-2025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D432F1-04E8-45A3-80D4-1FD47612AA55}" type="slidenum">
              <a:rPr lang="en-IN" smtClean="0"/>
              <a:t>‹#›</a:t>
            </a:fld>
            <a:endParaRPr lang="en-IN"/>
          </a:p>
        </p:txBody>
      </p:sp>
    </p:spTree>
    <p:extLst>
      <p:ext uri="{BB962C8B-B14F-4D97-AF65-F5344CB8AC3E}">
        <p14:creationId xmlns:p14="http://schemas.microsoft.com/office/powerpoint/2010/main" val="3690651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3074F12-AA26-4AC8-9962-C36BB8F32554}" type="datetimeFigureOut">
              <a:rPr lang="en-US" smtClean="0"/>
              <a:pPr/>
              <a:t>8/26/2025</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B82CCC60-E8CD-4174-8B1A-7DF615B22EEF}" type="slidenum">
              <a:rPr lang="en-US" smtClean="0"/>
              <a:pPr/>
              <a:t>‹#›</a:t>
            </a:fld>
            <a:endParaRPr lang="en-US" dirty="0"/>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3976824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3074F12-AA26-4AC8-9962-C36BB8F32554}" type="datetimeFigureOut">
              <a:rPr lang="en-US" smtClean="0"/>
              <a:pPr/>
              <a:t>8/26/2025</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487783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335291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3074F12-AA26-4AC8-9962-C36BB8F32554}" type="datetimeFigureOut">
              <a:rPr lang="en-US" smtClean="0"/>
              <a:pPr/>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80625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3074F12-AA26-4AC8-9962-C36BB8F32554}" type="datetimeFigureOut">
              <a:rPr lang="en-US" smtClean="0"/>
              <a:pPr/>
              <a:t>8/26/2025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911126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3074F12-AA26-4AC8-9962-C36BB8F32554}" type="datetimeFigureOut">
              <a:rPr lang="en-US" smtClean="0"/>
              <a:pPr/>
              <a:t>8/26/2025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373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8/26/2025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318966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79163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990474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569273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0738633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360570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78283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6934799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0431877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7289696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097827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3074F12-AA26-4AC8-9962-C36BB8F32554}" type="datetimeFigureOut">
              <a:rPr lang="en-US" smtClean="0"/>
              <a:pPr/>
              <a:t>8/26/2025</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3184599804"/>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 id="2147483804" r:id="rId14"/>
    <p:sldLayoutId id="2147483805" r:id="rId15"/>
    <p:sldLayoutId id="2147483806" r:id="rId16"/>
    <p:sldLayoutId id="214748380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hyperlink" Target="mailto:Dranand.scs@g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548680"/>
            <a:ext cx="8246070" cy="1200688"/>
          </a:xfrm>
        </p:spPr>
        <p:txBody>
          <a:bodyPr>
            <a:normAutofit fontScale="90000"/>
          </a:bodyPr>
          <a:lstStyle/>
          <a:p>
            <a:pPr algn="ctr"/>
            <a:r>
              <a:rPr lang="en-US" sz="4000" b="1" dirty="0" smtClean="0">
                <a:solidFill>
                  <a:srgbClr val="0070C0"/>
                </a:solidFill>
              </a:rPr>
              <a:t>Multi - </a:t>
            </a:r>
            <a:r>
              <a:rPr lang="en-US" sz="4000" b="1" dirty="0" err="1" smtClean="0">
                <a:solidFill>
                  <a:srgbClr val="0070C0"/>
                </a:solidFill>
              </a:rPr>
              <a:t>Agentic</a:t>
            </a:r>
            <a:r>
              <a:rPr lang="en-US" sz="4000" b="1" dirty="0" smtClean="0">
                <a:solidFill>
                  <a:srgbClr val="0070C0"/>
                </a:solidFill>
              </a:rPr>
              <a:t> AI Frameworks</a:t>
            </a:r>
            <a:br>
              <a:rPr lang="en-US" sz="4000" b="1" dirty="0" smtClean="0">
                <a:solidFill>
                  <a:srgbClr val="0070C0"/>
                </a:solidFill>
              </a:rPr>
            </a:br>
            <a:r>
              <a:rPr lang="en-US" sz="4000" b="1" dirty="0" smtClean="0">
                <a:solidFill>
                  <a:srgbClr val="0070C0"/>
                </a:solidFill>
              </a:rPr>
              <a:t>Course Code: MMAAI</a:t>
            </a:r>
            <a:endParaRPr lang="en-US" sz="4000" b="1" dirty="0">
              <a:solidFill>
                <a:srgbClr val="0070C0"/>
              </a:solidFill>
            </a:endParaRPr>
          </a:p>
        </p:txBody>
      </p:sp>
      <p:sp>
        <p:nvSpPr>
          <p:cNvPr id="3" name="Subtitle 2"/>
          <p:cNvSpPr>
            <a:spLocks noGrp="1"/>
          </p:cNvSpPr>
          <p:nvPr>
            <p:ph type="subTitle" idx="1"/>
          </p:nvPr>
        </p:nvSpPr>
        <p:spPr>
          <a:xfrm>
            <a:off x="2555776" y="1988840"/>
            <a:ext cx="4772308" cy="1854753"/>
          </a:xfrm>
        </p:spPr>
        <p:txBody>
          <a:bodyPr>
            <a:normAutofit fontScale="92500" lnSpcReduction="10000"/>
          </a:bodyPr>
          <a:lstStyle/>
          <a:p>
            <a:endParaRPr lang="en-US" sz="2400" dirty="0"/>
          </a:p>
          <a:p>
            <a:endParaRPr lang="en-US" sz="4000" dirty="0"/>
          </a:p>
          <a:p>
            <a:r>
              <a:rPr lang="en-US" sz="4000" dirty="0">
                <a:solidFill>
                  <a:srgbClr val="002060"/>
                </a:solidFill>
              </a:rPr>
              <a:t>Dr.S.Mahesh Anand</a:t>
            </a:r>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883567"/>
          </a:xfrm>
        </p:spPr>
        <p:txBody>
          <a:bodyPr>
            <a:normAutofit/>
          </a:bodyPr>
          <a:lstStyle/>
          <a:p>
            <a:pPr algn="ctr"/>
            <a:r>
              <a:rPr lang="en-US" b="1" dirty="0" smtClean="0">
                <a:solidFill>
                  <a:srgbClr val="0070C0"/>
                </a:solidFill>
              </a:rPr>
              <a:t>AI Agents Vs </a:t>
            </a:r>
            <a:r>
              <a:rPr lang="en-US" b="1" dirty="0" err="1" smtClean="0">
                <a:solidFill>
                  <a:srgbClr val="0070C0"/>
                </a:solidFill>
              </a:rPr>
              <a:t>Agentic</a:t>
            </a:r>
            <a:r>
              <a:rPr lang="en-US" b="1" dirty="0" smtClean="0">
                <a:solidFill>
                  <a:srgbClr val="0070C0"/>
                </a:solidFill>
              </a:rPr>
              <a:t> AI</a:t>
            </a:r>
            <a:endParaRPr lang="en-IN" b="1" dirty="0">
              <a:solidFill>
                <a:srgbClr val="0070C0"/>
              </a:solidFill>
            </a:endParaRPr>
          </a:p>
        </p:txBody>
      </p:sp>
      <p:sp>
        <p:nvSpPr>
          <p:cNvPr id="3" name="Content Placeholder 2"/>
          <p:cNvSpPr>
            <a:spLocks noGrp="1"/>
          </p:cNvSpPr>
          <p:nvPr>
            <p:ph idx="1"/>
          </p:nvPr>
        </p:nvSpPr>
        <p:spPr>
          <a:xfrm>
            <a:off x="982133" y="1484784"/>
            <a:ext cx="7704667" cy="4680520"/>
          </a:xfrm>
        </p:spPr>
        <p:txBody>
          <a:bodyPr>
            <a:noAutofit/>
          </a:bodyPr>
          <a:lstStyle/>
          <a:p>
            <a:pPr marL="0" indent="0">
              <a:buNone/>
            </a:pPr>
            <a:endParaRPr lang="en-US" sz="1900" b="1" dirty="0" smtClean="0">
              <a:latin typeface="+mj-lt"/>
            </a:endParaRPr>
          </a:p>
          <a:p>
            <a:pPr marL="0" indent="0">
              <a:buNone/>
            </a:pPr>
            <a:endParaRPr lang="en-US" sz="1900" b="1" dirty="0">
              <a:latin typeface="+mj-lt"/>
            </a:endParaRPr>
          </a:p>
          <a:p>
            <a:r>
              <a:rPr lang="en-US" sz="1900" dirty="0" smtClean="0">
                <a:latin typeface="+mj-lt"/>
                <a:cs typeface="Arial" panose="020B0604020202020204" pitchFamily="34" charset="0"/>
              </a:rPr>
              <a:t>Think </a:t>
            </a:r>
            <a:r>
              <a:rPr lang="en-US" sz="1900" dirty="0">
                <a:latin typeface="+mj-lt"/>
                <a:cs typeface="Arial" panose="020B0604020202020204" pitchFamily="34" charset="0"/>
              </a:rPr>
              <a:t>of an </a:t>
            </a:r>
            <a:r>
              <a:rPr lang="en-US" sz="1900" b="1" dirty="0">
                <a:solidFill>
                  <a:srgbClr val="0070C0"/>
                </a:solidFill>
                <a:latin typeface="+mj-lt"/>
                <a:cs typeface="Arial" panose="020B0604020202020204" pitchFamily="34" charset="0"/>
              </a:rPr>
              <a:t>AI agent</a:t>
            </a:r>
            <a:r>
              <a:rPr lang="en-US" sz="1900" dirty="0">
                <a:solidFill>
                  <a:srgbClr val="0070C0"/>
                </a:solidFill>
                <a:latin typeface="+mj-lt"/>
                <a:cs typeface="Arial" panose="020B0604020202020204" pitchFamily="34" charset="0"/>
              </a:rPr>
              <a:t> </a:t>
            </a:r>
            <a:r>
              <a:rPr lang="en-US" sz="1900" dirty="0">
                <a:latin typeface="+mj-lt"/>
                <a:cs typeface="Arial" panose="020B0604020202020204" pitchFamily="34" charset="0"/>
              </a:rPr>
              <a:t>as a smart helper program or robot</a:t>
            </a:r>
            <a:r>
              <a:rPr lang="en-US" sz="1900" dirty="0" smtClean="0">
                <a:latin typeface="+mj-lt"/>
                <a:cs typeface="Arial" panose="020B0604020202020204" pitchFamily="34" charset="0"/>
              </a:rPr>
              <a:t>.</a:t>
            </a:r>
          </a:p>
          <a:p>
            <a:r>
              <a:rPr lang="en-US" sz="1900" dirty="0">
                <a:latin typeface="+mj-lt"/>
                <a:cs typeface="Arial" panose="020B0604020202020204" pitchFamily="34" charset="0"/>
              </a:rPr>
              <a:t>It gets a goal from you (like "book a ticket" or "answer this question"), looks at information it has, and tries to do that one job for you</a:t>
            </a:r>
            <a:r>
              <a:rPr lang="en-US" sz="1900" dirty="0" smtClean="0">
                <a:latin typeface="+mj-lt"/>
                <a:cs typeface="Arial" panose="020B0604020202020204" pitchFamily="34" charset="0"/>
              </a:rPr>
              <a:t>.</a:t>
            </a:r>
          </a:p>
          <a:p>
            <a:r>
              <a:rPr lang="en-IN" sz="1900" b="1" dirty="0" err="1">
                <a:solidFill>
                  <a:srgbClr val="0070C0"/>
                </a:solidFill>
                <a:latin typeface="+mj-lt"/>
                <a:cs typeface="Arial" panose="020B0604020202020204" pitchFamily="34" charset="0"/>
              </a:rPr>
              <a:t>Agentic</a:t>
            </a:r>
            <a:r>
              <a:rPr lang="en-IN" sz="1900" b="1" dirty="0">
                <a:solidFill>
                  <a:srgbClr val="0070C0"/>
                </a:solidFill>
                <a:latin typeface="+mj-lt"/>
                <a:cs typeface="Arial" panose="020B0604020202020204" pitchFamily="34" charset="0"/>
              </a:rPr>
              <a:t> AI</a:t>
            </a:r>
            <a:r>
              <a:rPr lang="en-IN" sz="1900" dirty="0">
                <a:solidFill>
                  <a:srgbClr val="0070C0"/>
                </a:solidFill>
                <a:latin typeface="+mj-lt"/>
                <a:cs typeface="Arial" panose="020B0604020202020204" pitchFamily="34" charset="0"/>
              </a:rPr>
              <a:t> </a:t>
            </a:r>
            <a:r>
              <a:rPr lang="en-IN" sz="1900" dirty="0" smtClean="0">
                <a:latin typeface="+mj-lt"/>
                <a:cs typeface="Arial" panose="020B0604020202020204" pitchFamily="34" charset="0"/>
              </a:rPr>
              <a:t>takes things to the next level.</a:t>
            </a:r>
          </a:p>
          <a:p>
            <a:r>
              <a:rPr lang="en-US" sz="1900" dirty="0">
                <a:latin typeface="+mj-lt"/>
                <a:cs typeface="Arial" panose="020B0604020202020204" pitchFamily="34" charset="0"/>
              </a:rPr>
              <a:t>It acts more like an independent helper that can think, plan, break up complex tasks into steps, use tools (like calculators, search engines), learn as it goes, and even reflect on its performance to improve</a:t>
            </a:r>
            <a:r>
              <a:rPr lang="en-US" sz="1900" dirty="0" smtClean="0">
                <a:latin typeface="+mj-lt"/>
                <a:cs typeface="Arial" panose="020B0604020202020204" pitchFamily="34" charset="0"/>
              </a:rPr>
              <a:t>.</a:t>
            </a:r>
          </a:p>
          <a:p>
            <a:r>
              <a:rPr lang="en-US" sz="1900" b="1" dirty="0">
                <a:solidFill>
                  <a:srgbClr val="0070C0"/>
                </a:solidFill>
                <a:latin typeface="+mj-lt"/>
                <a:cs typeface="Arial" panose="020B0604020202020204" pitchFamily="34" charset="0"/>
              </a:rPr>
              <a:t>In short:</a:t>
            </a:r>
            <a:r>
              <a:rPr lang="en-US" sz="1900" dirty="0">
                <a:solidFill>
                  <a:srgbClr val="0070C0"/>
                </a:solidFill>
                <a:latin typeface="+mj-lt"/>
                <a:cs typeface="Arial" panose="020B0604020202020204" pitchFamily="34" charset="0"/>
              </a:rPr>
              <a:t/>
            </a:r>
            <a:br>
              <a:rPr lang="en-US" sz="1900" dirty="0">
                <a:solidFill>
                  <a:srgbClr val="0070C0"/>
                </a:solidFill>
                <a:latin typeface="+mj-lt"/>
                <a:cs typeface="Arial" panose="020B0604020202020204" pitchFamily="34" charset="0"/>
              </a:rPr>
            </a:br>
            <a:r>
              <a:rPr lang="en-US" sz="1900" dirty="0">
                <a:latin typeface="+mj-lt"/>
                <a:cs typeface="Arial" panose="020B0604020202020204" pitchFamily="34" charset="0"/>
              </a:rPr>
              <a:t>AI agents are smart, single-task helpers</a:t>
            </a:r>
            <a:r>
              <a:rPr lang="en-US" sz="1900" dirty="0" smtClean="0">
                <a:latin typeface="+mj-lt"/>
                <a:cs typeface="Arial" panose="020B0604020202020204" pitchFamily="34" charset="0"/>
              </a:rPr>
              <a:t>.</a:t>
            </a:r>
          </a:p>
          <a:p>
            <a:r>
              <a:rPr lang="en-US" sz="1900" dirty="0" err="1" smtClean="0">
                <a:latin typeface="+mj-lt"/>
                <a:cs typeface="Arial" panose="020B0604020202020204" pitchFamily="34" charset="0"/>
              </a:rPr>
              <a:t>Agentic</a:t>
            </a:r>
            <a:r>
              <a:rPr lang="en-US" sz="1900" dirty="0" smtClean="0">
                <a:latin typeface="+mj-lt"/>
                <a:cs typeface="Arial" panose="020B0604020202020204" pitchFamily="34" charset="0"/>
              </a:rPr>
              <a:t> </a:t>
            </a:r>
            <a:r>
              <a:rPr lang="en-US" sz="1900" dirty="0">
                <a:latin typeface="+mj-lt"/>
                <a:cs typeface="Arial" panose="020B0604020202020204" pitchFamily="34" charset="0"/>
              </a:rPr>
              <a:t>AI is a </a:t>
            </a:r>
            <a:r>
              <a:rPr lang="en-US" sz="1900" dirty="0" smtClean="0">
                <a:latin typeface="+mj-lt"/>
                <a:cs typeface="Arial" panose="020B0604020202020204" pitchFamily="34" charset="0"/>
              </a:rPr>
              <a:t>super-helper it </a:t>
            </a:r>
            <a:r>
              <a:rPr lang="en-US" sz="1900" dirty="0">
                <a:latin typeface="+mj-lt"/>
                <a:cs typeface="Arial" panose="020B0604020202020204" pitchFamily="34" charset="0"/>
              </a:rPr>
              <a:t>can plan, adapt, and handle complicated jobs by itself, almost like a human thinking things through for you.</a:t>
            </a:r>
            <a:endParaRPr lang="en-IN" sz="1900" dirty="0" smtClean="0">
              <a:latin typeface="+mj-lt"/>
              <a:cs typeface="Arial" panose="020B0604020202020204" pitchFamily="34" charset="0"/>
            </a:endParaRPr>
          </a:p>
          <a:p>
            <a:endParaRPr lang="en-IN" sz="1900" dirty="0" smtClean="0">
              <a:latin typeface="+mj-lt"/>
            </a:endParaRPr>
          </a:p>
          <a:p>
            <a:endParaRPr lang="en-US" sz="1900" dirty="0">
              <a:latin typeface="+mj-lt"/>
            </a:endParaRPr>
          </a:p>
          <a:p>
            <a:endParaRPr lang="en-US" sz="1900" dirty="0">
              <a:latin typeface="+mj-lt"/>
            </a:endParaRPr>
          </a:p>
          <a:p>
            <a:endParaRPr lang="en-IN" sz="1900" dirty="0">
              <a:latin typeface="+mj-lt"/>
            </a:endParaRPr>
          </a:p>
        </p:txBody>
      </p:sp>
    </p:spTree>
    <p:extLst>
      <p:ext uri="{BB962C8B-B14F-4D97-AF65-F5344CB8AC3E}">
        <p14:creationId xmlns:p14="http://schemas.microsoft.com/office/powerpoint/2010/main" val="2355786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739551"/>
          </a:xfrm>
        </p:spPr>
        <p:txBody>
          <a:bodyPr/>
          <a:lstStyle/>
          <a:p>
            <a:r>
              <a:rPr lang="en-US" b="1" dirty="0" smtClean="0">
                <a:solidFill>
                  <a:srgbClr val="0070C0"/>
                </a:solidFill>
              </a:rPr>
              <a:t>Key Difference</a:t>
            </a:r>
            <a:endParaRPr lang="en-IN" b="1" dirty="0">
              <a:solidFill>
                <a:srgbClr val="0070C0"/>
              </a:solidFill>
            </a:endParaRPr>
          </a:p>
        </p:txBody>
      </p:sp>
      <p:sp>
        <p:nvSpPr>
          <p:cNvPr id="3" name="Content Placeholder 2"/>
          <p:cNvSpPr>
            <a:spLocks noGrp="1"/>
          </p:cNvSpPr>
          <p:nvPr>
            <p:ph idx="1"/>
          </p:nvPr>
        </p:nvSpPr>
        <p:spPr>
          <a:xfrm>
            <a:off x="969300" y="1628800"/>
            <a:ext cx="7704667" cy="3332816"/>
          </a:xfrm>
        </p:spPr>
        <p:txBody>
          <a:bodyPr/>
          <a:lstStyle/>
          <a:p>
            <a:r>
              <a:rPr lang="en-US" b="1" dirty="0">
                <a:solidFill>
                  <a:srgbClr val="0070C0"/>
                </a:solidFill>
              </a:rPr>
              <a:t>AI agent:</a:t>
            </a:r>
            <a:r>
              <a:rPr lang="en-US" dirty="0">
                <a:solidFill>
                  <a:srgbClr val="0070C0"/>
                </a:solidFill>
              </a:rPr>
              <a:t> </a:t>
            </a:r>
            <a:r>
              <a:rPr lang="en-US" dirty="0"/>
              <a:t>Does one request at a </a:t>
            </a:r>
            <a:r>
              <a:rPr lang="en-US" dirty="0" smtClean="0"/>
              <a:t>time follows </a:t>
            </a:r>
            <a:r>
              <a:rPr lang="en-US" dirty="0"/>
              <a:t>orders.</a:t>
            </a:r>
          </a:p>
          <a:p>
            <a:r>
              <a:rPr lang="en-US" b="1" dirty="0" err="1">
                <a:solidFill>
                  <a:srgbClr val="0070C0"/>
                </a:solidFill>
              </a:rPr>
              <a:t>Agentic</a:t>
            </a:r>
            <a:r>
              <a:rPr lang="en-US" b="1" dirty="0">
                <a:solidFill>
                  <a:srgbClr val="0070C0"/>
                </a:solidFill>
              </a:rPr>
              <a:t> AI:</a:t>
            </a:r>
            <a:r>
              <a:rPr lang="en-US" dirty="0">
                <a:solidFill>
                  <a:srgbClr val="0070C0"/>
                </a:solidFill>
              </a:rPr>
              <a:t> </a:t>
            </a:r>
            <a:r>
              <a:rPr lang="en-US" dirty="0"/>
              <a:t>Handles complex, multi-step </a:t>
            </a:r>
            <a:r>
              <a:rPr lang="en-US" dirty="0" smtClean="0"/>
              <a:t>tasks can </a:t>
            </a:r>
            <a:r>
              <a:rPr lang="en-US" dirty="0"/>
              <a:t>plan, adapt, and improve itself, working more like a thoughtful human assistant.</a:t>
            </a:r>
          </a:p>
          <a:p>
            <a:endParaRPr lang="en-IN" dirty="0"/>
          </a:p>
        </p:txBody>
      </p:sp>
    </p:spTree>
    <p:extLst>
      <p:ext uri="{BB962C8B-B14F-4D97-AF65-F5344CB8AC3E}">
        <p14:creationId xmlns:p14="http://schemas.microsoft.com/office/powerpoint/2010/main" val="2981748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027583"/>
          </a:xfrm>
        </p:spPr>
        <p:txBody>
          <a:bodyPr/>
          <a:lstStyle/>
          <a:p>
            <a:r>
              <a:rPr lang="en-US" b="1" dirty="0" err="1" smtClean="0">
                <a:solidFill>
                  <a:srgbClr val="0070C0"/>
                </a:solidFill>
              </a:rPr>
              <a:t>Agentic</a:t>
            </a:r>
            <a:r>
              <a:rPr lang="en-US" b="1" dirty="0" smtClean="0">
                <a:solidFill>
                  <a:srgbClr val="0070C0"/>
                </a:solidFill>
              </a:rPr>
              <a:t> AI Frameworks</a:t>
            </a:r>
            <a:endParaRPr lang="en-IN" b="1" dirty="0">
              <a:solidFill>
                <a:srgbClr val="0070C0"/>
              </a:solidFill>
            </a:endParaRPr>
          </a:p>
        </p:txBody>
      </p:sp>
      <p:sp>
        <p:nvSpPr>
          <p:cNvPr id="4" name="Rectangle 1"/>
          <p:cNvSpPr>
            <a:spLocks noGrp="1" noChangeArrowheads="1"/>
          </p:cNvSpPr>
          <p:nvPr>
            <p:ph idx="1"/>
          </p:nvPr>
        </p:nvSpPr>
        <p:spPr bwMode="auto">
          <a:xfrm>
            <a:off x="755577" y="1300843"/>
            <a:ext cx="6984776" cy="4570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sz="1900" b="1" i="0" u="none" strike="noStrike" cap="none" normalizeH="0" baseline="0" dirty="0" err="1" smtClean="0">
                <a:ln>
                  <a:noFill/>
                </a:ln>
                <a:solidFill>
                  <a:srgbClr val="0070C0"/>
                </a:solidFill>
                <a:effectLst/>
                <a:latin typeface="+mj-lt"/>
              </a:rPr>
              <a:t>LangChain</a:t>
            </a:r>
            <a:r>
              <a:rPr kumimoji="0" lang="en-US" sz="1900" b="1" i="0" u="none" strike="noStrike" cap="none" normalizeH="0" baseline="0" dirty="0" smtClean="0">
                <a:ln>
                  <a:noFill/>
                </a:ln>
                <a:solidFill>
                  <a:srgbClr val="0070C0"/>
                </a:solidFill>
                <a:effectLst/>
                <a:latin typeface="+mj-lt"/>
              </a:rPr>
              <a:t>/</a:t>
            </a:r>
            <a:r>
              <a:rPr kumimoji="0" lang="en-US" sz="1900" b="1" i="0" u="none" strike="noStrike" cap="none" normalizeH="0" baseline="0" dirty="0" err="1" smtClean="0">
                <a:ln>
                  <a:noFill/>
                </a:ln>
                <a:solidFill>
                  <a:srgbClr val="0070C0"/>
                </a:solidFill>
                <a:effectLst/>
                <a:latin typeface="+mj-lt"/>
              </a:rPr>
              <a:t>LangGraph</a:t>
            </a:r>
            <a:r>
              <a:rPr kumimoji="0" lang="en-US" sz="1900" b="0" i="0" u="none" strike="noStrike" cap="none" normalizeH="0" baseline="0" dirty="0" smtClean="0">
                <a:ln>
                  <a:noFill/>
                </a:ln>
                <a:solidFill>
                  <a:srgbClr val="0070C0"/>
                </a:solidFill>
                <a:effectLst/>
                <a:latin typeface="+mj-l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sz="1900" b="0" i="0" u="none" strike="noStrike" cap="none" normalizeH="0" baseline="0" dirty="0" smtClean="0">
                <a:ln>
                  <a:noFill/>
                </a:ln>
                <a:solidFill>
                  <a:schemeClr val="tx1"/>
                </a:solidFill>
                <a:effectLst/>
                <a:latin typeface="+mj-lt"/>
              </a:rPr>
              <a:t>Still the most widely adopted, broadest ecosystem; excellent for starting points.</a:t>
            </a:r>
          </a:p>
          <a:p>
            <a:pPr marL="0" marR="0" lvl="0" indent="0" algn="l" defTabSz="914400" rtl="0" eaLnBrk="0" fontAlgn="base" latinLnBrk="0" hangingPunct="0">
              <a:lnSpc>
                <a:spcPct val="100000"/>
              </a:lnSpc>
              <a:spcBef>
                <a:spcPct val="0"/>
              </a:spcBef>
              <a:spcAft>
                <a:spcPct val="0"/>
              </a:spcAft>
              <a:buClrTx/>
              <a:buSzTx/>
              <a:buNone/>
              <a:tabLst/>
            </a:pPr>
            <a:r>
              <a:rPr kumimoji="0" lang="en-US" sz="1900" b="1" i="0" u="none" strike="noStrike" cap="none" normalizeH="0" baseline="0" dirty="0" err="1" smtClean="0">
                <a:ln>
                  <a:noFill/>
                </a:ln>
                <a:solidFill>
                  <a:srgbClr val="0070C0"/>
                </a:solidFill>
                <a:effectLst/>
                <a:latin typeface="+mj-lt"/>
              </a:rPr>
              <a:t>CrewAI</a:t>
            </a:r>
            <a:r>
              <a:rPr kumimoji="0" lang="en-US" sz="1900" b="1" i="0" u="none" strike="noStrike" cap="none" normalizeH="0" baseline="0" dirty="0" smtClean="0">
                <a:ln>
                  <a:noFill/>
                </a:ln>
                <a:solidFill>
                  <a:srgbClr val="0070C0"/>
                </a:solidFill>
                <a:effectLst/>
                <a:latin typeface="+mj-lt"/>
              </a:rPr>
              <a:t>, </a:t>
            </a:r>
            <a:r>
              <a:rPr kumimoji="0" lang="en-US" sz="1900" b="1" i="0" u="none" strike="noStrike" cap="none" normalizeH="0" baseline="0" dirty="0" err="1" smtClean="0">
                <a:ln>
                  <a:noFill/>
                </a:ln>
                <a:solidFill>
                  <a:srgbClr val="0070C0"/>
                </a:solidFill>
                <a:effectLst/>
                <a:latin typeface="+mj-lt"/>
              </a:rPr>
              <a:t>AutoGen</a:t>
            </a:r>
            <a:r>
              <a:rPr kumimoji="0" lang="en-US" sz="1900" b="0" i="0" u="none" strike="noStrike" cap="none" normalizeH="0" baseline="0" dirty="0" smtClean="0">
                <a:ln>
                  <a:noFill/>
                </a:ln>
                <a:solidFill>
                  <a:srgbClr val="0070C0"/>
                </a:solidFill>
                <a:effectLst/>
                <a:latin typeface="+mj-l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sz="1900" b="0" i="0" u="none" strike="noStrike" cap="none" normalizeH="0" baseline="0" dirty="0" smtClean="0">
                <a:ln>
                  <a:noFill/>
                </a:ln>
                <a:solidFill>
                  <a:schemeClr val="tx1"/>
                </a:solidFill>
                <a:effectLst/>
                <a:latin typeface="+mj-lt"/>
              </a:rPr>
              <a:t>Both are state-of-the-art for collaborative, specialized, and distributed agent systems.</a:t>
            </a:r>
          </a:p>
          <a:p>
            <a:pPr marL="0" marR="0" lvl="0" indent="0" algn="l" defTabSz="914400" rtl="0" eaLnBrk="0" fontAlgn="base" latinLnBrk="0" hangingPunct="0">
              <a:lnSpc>
                <a:spcPct val="100000"/>
              </a:lnSpc>
              <a:spcBef>
                <a:spcPct val="0"/>
              </a:spcBef>
              <a:spcAft>
                <a:spcPct val="0"/>
              </a:spcAft>
              <a:buClrTx/>
              <a:buSzTx/>
              <a:buNone/>
              <a:tabLst/>
            </a:pPr>
            <a:r>
              <a:rPr kumimoji="0" lang="en-US" sz="1900" b="1" i="0" u="none" strike="noStrike" cap="none" normalizeH="0" baseline="0" dirty="0" smtClean="0">
                <a:ln>
                  <a:noFill/>
                </a:ln>
                <a:solidFill>
                  <a:srgbClr val="0070C0"/>
                </a:solidFill>
                <a:effectLst/>
                <a:latin typeface="+mj-lt"/>
              </a:rPr>
              <a:t>Agno</a:t>
            </a:r>
            <a:r>
              <a:rPr lang="en-US" sz="1900" dirty="0" smtClean="0">
                <a:solidFill>
                  <a:srgbClr val="0070C0"/>
                </a:solidFill>
                <a:latin typeface="+mj-lt"/>
              </a:rPr>
              <a:t>/alternative is Haystack</a:t>
            </a:r>
            <a:endParaRPr kumimoji="0" lang="en-US" sz="1900" b="0" i="0" u="none" strike="noStrike" cap="none" normalizeH="0" baseline="0" dirty="0" smtClean="0">
              <a:ln>
                <a:noFill/>
              </a:ln>
              <a:solidFill>
                <a:srgbClr val="0070C0"/>
              </a:solidFill>
              <a:effectLst/>
              <a:latin typeface="+mj-lt"/>
            </a:endParaRPr>
          </a:p>
          <a:p>
            <a:pPr marL="0" marR="0" lvl="0" indent="0" algn="l" defTabSz="914400" rtl="0" eaLnBrk="0" fontAlgn="base" latinLnBrk="0" hangingPunct="0">
              <a:lnSpc>
                <a:spcPct val="100000"/>
              </a:lnSpc>
              <a:spcBef>
                <a:spcPct val="0"/>
              </a:spcBef>
              <a:spcAft>
                <a:spcPct val="0"/>
              </a:spcAft>
              <a:buClrTx/>
              <a:buSzTx/>
              <a:buNone/>
              <a:tabLst/>
            </a:pPr>
            <a:r>
              <a:rPr kumimoji="0" lang="en-US" sz="1900" b="0" i="0" u="none" strike="noStrike" cap="none" normalizeH="0" baseline="0" dirty="0" smtClean="0">
                <a:ln>
                  <a:noFill/>
                </a:ln>
                <a:solidFill>
                  <a:schemeClr val="tx1"/>
                </a:solidFill>
                <a:effectLst/>
                <a:latin typeface="+mj-lt"/>
              </a:rPr>
              <a:t>Up-and-coming, especially relevant for RAG</a:t>
            </a:r>
            <a:r>
              <a:rPr kumimoji="0" lang="en-US" sz="1900" b="0" i="0" u="none" strike="noStrike" cap="none" normalizeH="0" dirty="0" smtClean="0">
                <a:ln>
                  <a:noFill/>
                </a:ln>
                <a:solidFill>
                  <a:schemeClr val="tx1"/>
                </a:solidFill>
                <a:effectLst/>
                <a:latin typeface="+mj-lt"/>
              </a:rPr>
              <a:t> </a:t>
            </a:r>
            <a:r>
              <a:rPr kumimoji="0" lang="en-US" sz="1900" b="0" i="0" u="none" strike="noStrike" cap="none" normalizeH="0" baseline="0" dirty="0" smtClean="0">
                <a:ln>
                  <a:noFill/>
                </a:ln>
                <a:solidFill>
                  <a:schemeClr val="tx1"/>
                </a:solidFill>
                <a:effectLst/>
                <a:latin typeface="+mj-lt"/>
              </a:rPr>
              <a:t>the "hot" subfield in enterprise AI.</a:t>
            </a:r>
          </a:p>
          <a:p>
            <a:pPr marL="0" marR="0" lvl="0" indent="0" algn="l" defTabSz="914400" rtl="0" eaLnBrk="0" fontAlgn="base" latinLnBrk="0" hangingPunct="0">
              <a:lnSpc>
                <a:spcPct val="100000"/>
              </a:lnSpc>
              <a:spcBef>
                <a:spcPct val="0"/>
              </a:spcBef>
              <a:spcAft>
                <a:spcPct val="0"/>
              </a:spcAft>
              <a:buClrTx/>
              <a:buSzTx/>
              <a:buNone/>
              <a:tabLst/>
            </a:pPr>
            <a:r>
              <a:rPr kumimoji="0" lang="en-US" sz="1900" b="1" i="0" u="none" strike="noStrike" cap="none" normalizeH="0" baseline="0" dirty="0" smtClean="0">
                <a:ln>
                  <a:noFill/>
                </a:ln>
                <a:solidFill>
                  <a:srgbClr val="0070C0"/>
                </a:solidFill>
                <a:effectLst/>
                <a:latin typeface="+mj-lt"/>
              </a:rPr>
              <a:t>n8n</a:t>
            </a:r>
            <a:r>
              <a:rPr kumimoji="0" lang="en-US" sz="1900" b="0" i="0" u="none" strike="noStrike" cap="none" normalizeH="0" baseline="0" dirty="0" smtClean="0">
                <a:ln>
                  <a:noFill/>
                </a:ln>
                <a:solidFill>
                  <a:srgbClr val="0070C0"/>
                </a:solidFill>
                <a:effectLst/>
                <a:latin typeface="+mj-l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sz="1900" b="0" i="0" u="none" strike="noStrike" cap="none" normalizeH="0" baseline="0" dirty="0" smtClean="0">
                <a:ln>
                  <a:noFill/>
                </a:ln>
                <a:solidFill>
                  <a:schemeClr val="tx1"/>
                </a:solidFill>
                <a:effectLst/>
                <a:latin typeface="+mj-lt"/>
              </a:rPr>
              <a:t>Popular for bridging automation and AI agent workflows, used in startups to enterprises.</a:t>
            </a:r>
          </a:p>
          <a:p>
            <a:pPr marL="0" marR="0" lvl="0" indent="0" algn="l" defTabSz="914400" rtl="0" eaLnBrk="0" fontAlgn="base" latinLnBrk="0" hangingPunct="0">
              <a:lnSpc>
                <a:spcPct val="100000"/>
              </a:lnSpc>
              <a:spcBef>
                <a:spcPct val="0"/>
              </a:spcBef>
              <a:spcAft>
                <a:spcPct val="0"/>
              </a:spcAft>
              <a:buClrTx/>
              <a:buSzTx/>
              <a:buNone/>
              <a:tabLst/>
            </a:pPr>
            <a:endParaRPr kumimoji="0" lang="en-US" sz="1900" b="0" i="0" u="none" strike="noStrike" cap="none" normalizeH="0" baseline="0" dirty="0" smtClean="0">
              <a:ln>
                <a:noFill/>
              </a:ln>
              <a:solidFill>
                <a:schemeClr val="tx1"/>
              </a:solidFill>
              <a:effectLst/>
              <a:latin typeface="+mj-lt"/>
            </a:endParaRPr>
          </a:p>
          <a:p>
            <a:pPr marL="0" lvl="0" indent="0" defTabSz="914400" eaLnBrk="0" fontAlgn="base" hangingPunct="0">
              <a:spcBef>
                <a:spcPct val="0"/>
              </a:spcBef>
              <a:spcAft>
                <a:spcPct val="0"/>
              </a:spcAft>
              <a:buClrTx/>
              <a:buSzTx/>
              <a:buNone/>
            </a:pPr>
            <a:r>
              <a:rPr lang="en-US" sz="1900" dirty="0" smtClean="0">
                <a:solidFill>
                  <a:srgbClr val="0070C0"/>
                </a:solidFill>
                <a:latin typeface="+mj-lt"/>
              </a:rPr>
              <a:t>Note: </a:t>
            </a:r>
            <a:r>
              <a:rPr lang="en-US" sz="2000" dirty="0" err="1"/>
              <a:t>Pydantic</a:t>
            </a:r>
            <a:r>
              <a:rPr lang="en-US" sz="2000" dirty="0"/>
              <a:t> is a modeling library, not an agent framework. </a:t>
            </a:r>
            <a:r>
              <a:rPr lang="en-US" sz="2000" dirty="0" err="1"/>
              <a:t>Pydantic</a:t>
            </a:r>
            <a:r>
              <a:rPr lang="en-US" sz="2000" dirty="0"/>
              <a:t> is used for data validation/structuring</a:t>
            </a:r>
            <a:endParaRPr kumimoji="0" lang="en-US" sz="1900" b="0" i="0" u="none" strike="noStrike" cap="none" normalizeH="0" baseline="0" dirty="0" smtClean="0">
              <a:ln>
                <a:noFill/>
              </a:ln>
              <a:solidFill>
                <a:schemeClr val="tx1"/>
              </a:solidFill>
              <a:effectLst/>
              <a:latin typeface="+mj-lt"/>
            </a:endParaRPr>
          </a:p>
        </p:txBody>
      </p:sp>
    </p:spTree>
    <p:extLst>
      <p:ext uri="{BB962C8B-B14F-4D97-AF65-F5344CB8AC3E}">
        <p14:creationId xmlns:p14="http://schemas.microsoft.com/office/powerpoint/2010/main" val="3209071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608" y="1196752"/>
            <a:ext cx="7704667" cy="3332816"/>
          </a:xfrm>
        </p:spPr>
        <p:txBody>
          <a:bodyPr/>
          <a:lstStyle/>
          <a:p>
            <a:r>
              <a:rPr lang="en-US" dirty="0" smtClean="0">
                <a:solidFill>
                  <a:srgbClr val="0070C0"/>
                </a:solidFill>
              </a:rPr>
              <a:t>Mainstream:  </a:t>
            </a:r>
            <a:r>
              <a:rPr lang="en-US" dirty="0" err="1" smtClean="0"/>
              <a:t>LangChain</a:t>
            </a:r>
            <a:r>
              <a:rPr lang="en-US" dirty="0" smtClean="0"/>
              <a:t>, </a:t>
            </a:r>
            <a:r>
              <a:rPr lang="en-US" dirty="0" err="1" smtClean="0"/>
              <a:t>LangGraph</a:t>
            </a:r>
            <a:r>
              <a:rPr lang="en-US" dirty="0" smtClean="0"/>
              <a:t> &amp; n8n</a:t>
            </a:r>
          </a:p>
          <a:p>
            <a:r>
              <a:rPr lang="en-US" dirty="0" smtClean="0">
                <a:solidFill>
                  <a:srgbClr val="0070C0"/>
                </a:solidFill>
              </a:rPr>
              <a:t>Research: </a:t>
            </a:r>
            <a:r>
              <a:rPr lang="en-US" dirty="0" smtClean="0"/>
              <a:t>(</a:t>
            </a:r>
            <a:r>
              <a:rPr lang="en-US" dirty="0" err="1" smtClean="0"/>
              <a:t>Autogen</a:t>
            </a:r>
            <a:r>
              <a:rPr lang="en-US" dirty="0" smtClean="0"/>
              <a:t>, Agno &amp; MCP)</a:t>
            </a:r>
          </a:p>
          <a:p>
            <a:r>
              <a:rPr lang="en-US" dirty="0" err="1" smtClean="0">
                <a:solidFill>
                  <a:srgbClr val="0070C0"/>
                </a:solidFill>
              </a:rPr>
              <a:t>CrewAI</a:t>
            </a:r>
            <a:r>
              <a:rPr lang="en-US" dirty="0" smtClean="0"/>
              <a:t> </a:t>
            </a:r>
            <a:r>
              <a:rPr lang="en-US" dirty="0"/>
              <a:t>is gaining momentum in the developer community, but its ecosystem is not as wide or mature as </a:t>
            </a:r>
            <a:r>
              <a:rPr lang="en-US" dirty="0" err="1"/>
              <a:t>LangChain</a:t>
            </a:r>
            <a:r>
              <a:rPr lang="en-US" dirty="0"/>
              <a:t>/</a:t>
            </a:r>
            <a:r>
              <a:rPr lang="en-US" dirty="0" err="1"/>
              <a:t>LangGraph</a:t>
            </a:r>
            <a:r>
              <a:rPr lang="en-US" dirty="0"/>
              <a:t>.</a:t>
            </a:r>
            <a:endParaRPr lang="en-IN" dirty="0"/>
          </a:p>
        </p:txBody>
      </p:sp>
    </p:spTree>
    <p:extLst>
      <p:ext uri="{BB962C8B-B14F-4D97-AF65-F5344CB8AC3E}">
        <p14:creationId xmlns:p14="http://schemas.microsoft.com/office/powerpoint/2010/main" val="2918948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0070C0"/>
                </a:solidFill>
              </a:rPr>
              <a:t>LangChain</a:t>
            </a:r>
            <a:endParaRPr lang="en-IN" b="1" dirty="0">
              <a:solidFill>
                <a:srgbClr val="0070C0"/>
              </a:solidFill>
            </a:endParaRPr>
          </a:p>
        </p:txBody>
      </p:sp>
      <p:sp>
        <p:nvSpPr>
          <p:cNvPr id="3" name="Content Placeholder 2"/>
          <p:cNvSpPr>
            <a:spLocks noGrp="1"/>
          </p:cNvSpPr>
          <p:nvPr>
            <p:ph idx="1"/>
          </p:nvPr>
        </p:nvSpPr>
        <p:spPr/>
        <p:txBody>
          <a:bodyPr/>
          <a:lstStyle/>
          <a:p>
            <a:r>
              <a:rPr lang="en-US" dirty="0"/>
              <a:t>A library for chaining together LLMs, prompts, memory, and tools, supporting easy integration with </a:t>
            </a:r>
            <a:r>
              <a:rPr lang="en-US" dirty="0" smtClean="0"/>
              <a:t>popular LLM models.</a:t>
            </a:r>
            <a:endParaRPr lang="en-IN" dirty="0"/>
          </a:p>
        </p:txBody>
      </p:sp>
    </p:spTree>
    <p:extLst>
      <p:ext uri="{BB962C8B-B14F-4D97-AF65-F5344CB8AC3E}">
        <p14:creationId xmlns:p14="http://schemas.microsoft.com/office/powerpoint/2010/main" val="3208332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Lab1 </a:t>
            </a:r>
            <a:r>
              <a:rPr lang="en-US" b="1" dirty="0" smtClean="0">
                <a:solidFill>
                  <a:srgbClr val="0070C0"/>
                </a:solidFill>
              </a:rPr>
              <a:t>: </a:t>
            </a:r>
            <a:r>
              <a:rPr lang="en-US" b="1" dirty="0">
                <a:solidFill>
                  <a:srgbClr val="0070C0"/>
                </a:solidFill>
              </a:rPr>
              <a:t>Building a </a:t>
            </a:r>
            <a:r>
              <a:rPr lang="en-US" b="1" dirty="0" err="1">
                <a:solidFill>
                  <a:srgbClr val="0070C0"/>
                </a:solidFill>
              </a:rPr>
              <a:t>ReACT</a:t>
            </a:r>
            <a:r>
              <a:rPr lang="en-US" b="1" dirty="0">
                <a:solidFill>
                  <a:srgbClr val="0070C0"/>
                </a:solidFill>
              </a:rPr>
              <a:t>-Loop Conversational Agent With Tools</a:t>
            </a:r>
            <a:r>
              <a:rPr lang="en-US" b="1" dirty="0"/>
              <a:t/>
            </a:r>
            <a:br>
              <a:rPr lang="en-US" b="1" dirty="0"/>
            </a:br>
            <a:endParaRPr lang="en-IN" dirty="0"/>
          </a:p>
        </p:txBody>
      </p:sp>
      <p:sp>
        <p:nvSpPr>
          <p:cNvPr id="3" name="Content Placeholder 2"/>
          <p:cNvSpPr>
            <a:spLocks noGrp="1"/>
          </p:cNvSpPr>
          <p:nvPr>
            <p:ph idx="1"/>
          </p:nvPr>
        </p:nvSpPr>
        <p:spPr/>
        <p:txBody>
          <a:bodyPr>
            <a:normAutofit fontScale="92500" lnSpcReduction="10000"/>
          </a:bodyPr>
          <a:lstStyle/>
          <a:p>
            <a:pPr marL="0" indent="0">
              <a:buNone/>
            </a:pPr>
            <a:r>
              <a:rPr lang="en-US" b="1" dirty="0">
                <a:solidFill>
                  <a:srgbClr val="0070C0"/>
                </a:solidFill>
              </a:rPr>
              <a:t>Agent</a:t>
            </a:r>
          </a:p>
          <a:p>
            <a:pPr marL="0" indent="0">
              <a:buNone/>
            </a:pPr>
            <a:r>
              <a:rPr lang="en-US" b="1" dirty="0">
                <a:solidFill>
                  <a:srgbClr val="0070C0"/>
                </a:solidFill>
              </a:rPr>
              <a:t>Definition: </a:t>
            </a:r>
            <a:r>
              <a:rPr lang="en-US" dirty="0"/>
              <a:t>In </a:t>
            </a:r>
            <a:r>
              <a:rPr lang="en-US" dirty="0" err="1"/>
              <a:t>LangChain</a:t>
            </a:r>
            <a:r>
              <a:rPr lang="en-US" dirty="0"/>
              <a:t> and LLM applications, an agent is an AI component that makes decisions about which “tools” or actions (such as calculation, searching, or calling APIs) to use and responds to natural language queries by reasoning step-by-step.</a:t>
            </a:r>
          </a:p>
          <a:p>
            <a:pPr marL="0" indent="0">
              <a:buNone/>
            </a:pPr>
            <a:r>
              <a:rPr lang="en-US" b="1" dirty="0">
                <a:solidFill>
                  <a:srgbClr val="0070C0"/>
                </a:solidFill>
              </a:rPr>
              <a:t>Need: </a:t>
            </a:r>
            <a:r>
              <a:rPr lang="en-US" dirty="0"/>
              <a:t>Agents enable LLM-powered workflows to go beyond static text generation and perform dynamic, multi-step tasks (e.g., calculations, looking up information, and combining intermediate results).</a:t>
            </a:r>
          </a:p>
          <a:p>
            <a:endParaRPr lang="en-IN" dirty="0"/>
          </a:p>
        </p:txBody>
      </p:sp>
    </p:spTree>
    <p:extLst>
      <p:ext uri="{BB962C8B-B14F-4D97-AF65-F5344CB8AC3E}">
        <p14:creationId xmlns:p14="http://schemas.microsoft.com/office/powerpoint/2010/main" val="1910395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243607"/>
          </a:xfrm>
        </p:spPr>
        <p:txBody>
          <a:bodyPr>
            <a:normAutofit fontScale="90000"/>
          </a:bodyPr>
          <a:lstStyle/>
          <a:p>
            <a:r>
              <a:rPr lang="en-US" b="1" dirty="0">
                <a:solidFill>
                  <a:srgbClr val="0070C0"/>
                </a:solidFill>
              </a:rPr>
              <a:t>Prompt Engineering &amp; </a:t>
            </a:r>
            <a:r>
              <a:rPr lang="en-US" b="1" dirty="0" smtClean="0">
                <a:solidFill>
                  <a:srgbClr val="0070C0"/>
                </a:solidFill>
              </a:rPr>
              <a:t/>
            </a:r>
            <a:br>
              <a:rPr lang="en-US" b="1" dirty="0" smtClean="0">
                <a:solidFill>
                  <a:srgbClr val="0070C0"/>
                </a:solidFill>
              </a:rPr>
            </a:br>
            <a:r>
              <a:rPr lang="en-US" b="1" dirty="0" err="1" smtClean="0">
                <a:solidFill>
                  <a:srgbClr val="0070C0"/>
                </a:solidFill>
              </a:rPr>
              <a:t>ReAct</a:t>
            </a:r>
            <a:r>
              <a:rPr lang="en-US" b="1" dirty="0" smtClean="0">
                <a:solidFill>
                  <a:srgbClr val="0070C0"/>
                </a:solidFill>
              </a:rPr>
              <a:t> </a:t>
            </a:r>
            <a:r>
              <a:rPr lang="en-US" b="1" dirty="0">
                <a:solidFill>
                  <a:srgbClr val="0070C0"/>
                </a:solidFill>
              </a:rPr>
              <a:t>Loops</a:t>
            </a:r>
            <a:br>
              <a:rPr lang="en-US" b="1" dirty="0">
                <a:solidFill>
                  <a:srgbClr val="0070C0"/>
                </a:solidFill>
              </a:rPr>
            </a:br>
            <a:endParaRPr lang="en-IN" dirty="0">
              <a:solidFill>
                <a:srgbClr val="0070C0"/>
              </a:solidFill>
            </a:endParaRPr>
          </a:p>
        </p:txBody>
      </p:sp>
      <p:sp>
        <p:nvSpPr>
          <p:cNvPr id="3" name="Content Placeholder 2"/>
          <p:cNvSpPr>
            <a:spLocks noGrp="1"/>
          </p:cNvSpPr>
          <p:nvPr>
            <p:ph idx="1"/>
          </p:nvPr>
        </p:nvSpPr>
        <p:spPr/>
        <p:txBody>
          <a:bodyPr>
            <a:normAutofit/>
          </a:bodyPr>
          <a:lstStyle/>
          <a:p>
            <a:r>
              <a:rPr lang="en-US" b="1" dirty="0" smtClean="0">
                <a:solidFill>
                  <a:srgbClr val="0070C0"/>
                </a:solidFill>
              </a:rPr>
              <a:t>Definition</a:t>
            </a:r>
            <a:r>
              <a:rPr lang="en-US" b="1" dirty="0">
                <a:solidFill>
                  <a:srgbClr val="0070C0"/>
                </a:solidFill>
              </a:rPr>
              <a:t>:</a:t>
            </a:r>
            <a:r>
              <a:rPr lang="en-US" dirty="0">
                <a:solidFill>
                  <a:srgbClr val="0070C0"/>
                </a:solidFill>
              </a:rPr>
              <a:t> </a:t>
            </a:r>
            <a:r>
              <a:rPr lang="en-US" dirty="0" err="1"/>
              <a:t>ReAct</a:t>
            </a:r>
            <a:r>
              <a:rPr lang="en-US" dirty="0"/>
              <a:t> (Reason–Act) is a prompting pattern where the model reasons ("Thought"), chooses an action ("Action"), pauses for an observation ("PAUSE"), processes the observation ("Observation"), and finally produces an answer ("Answer").</a:t>
            </a:r>
          </a:p>
          <a:p>
            <a:r>
              <a:rPr lang="en-US" b="1" dirty="0">
                <a:solidFill>
                  <a:srgbClr val="0070C0"/>
                </a:solidFill>
              </a:rPr>
              <a:t>Need:</a:t>
            </a:r>
            <a:r>
              <a:rPr lang="en-US" dirty="0">
                <a:solidFill>
                  <a:srgbClr val="0070C0"/>
                </a:solidFill>
              </a:rPr>
              <a:t> </a:t>
            </a:r>
            <a:r>
              <a:rPr lang="en-US" dirty="0"/>
              <a:t>This structure breaks complex queries into </a:t>
            </a:r>
            <a:r>
              <a:rPr lang="en-US" dirty="0" smtClean="0"/>
              <a:t>sub steps, </a:t>
            </a:r>
            <a:r>
              <a:rPr lang="en-US" dirty="0"/>
              <a:t>improves transparency, and enables tool-using agents to reason more like humans.</a:t>
            </a:r>
          </a:p>
          <a:p>
            <a:endParaRPr lang="en-IN" dirty="0"/>
          </a:p>
        </p:txBody>
      </p:sp>
    </p:spTree>
    <p:extLst>
      <p:ext uri="{BB962C8B-B14F-4D97-AF65-F5344CB8AC3E}">
        <p14:creationId xmlns:p14="http://schemas.microsoft.com/office/powerpoint/2010/main" val="2466391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243607"/>
          </a:xfrm>
        </p:spPr>
        <p:txBody>
          <a:bodyPr>
            <a:normAutofit fontScale="90000"/>
          </a:bodyPr>
          <a:lstStyle/>
          <a:p>
            <a:r>
              <a:rPr lang="en-US" b="1" dirty="0">
                <a:solidFill>
                  <a:srgbClr val="0070C0"/>
                </a:solidFill>
              </a:rPr>
              <a:t>Tools/Actions</a:t>
            </a:r>
            <a:br>
              <a:rPr lang="en-US" b="1" dirty="0">
                <a:solidFill>
                  <a:srgbClr val="0070C0"/>
                </a:solidFill>
              </a:rPr>
            </a:br>
            <a:endParaRPr lang="en-IN" dirty="0">
              <a:solidFill>
                <a:srgbClr val="0070C0"/>
              </a:solidFill>
            </a:endParaRPr>
          </a:p>
        </p:txBody>
      </p:sp>
      <p:sp>
        <p:nvSpPr>
          <p:cNvPr id="3" name="Content Placeholder 2"/>
          <p:cNvSpPr>
            <a:spLocks noGrp="1"/>
          </p:cNvSpPr>
          <p:nvPr>
            <p:ph idx="1"/>
          </p:nvPr>
        </p:nvSpPr>
        <p:spPr>
          <a:xfrm>
            <a:off x="982133" y="1700808"/>
            <a:ext cx="7704667" cy="4299008"/>
          </a:xfrm>
        </p:spPr>
        <p:txBody>
          <a:bodyPr>
            <a:normAutofit/>
          </a:bodyPr>
          <a:lstStyle/>
          <a:p>
            <a:pPr marL="0" indent="0">
              <a:buNone/>
            </a:pPr>
            <a:r>
              <a:rPr lang="en-US" b="1" dirty="0" smtClean="0">
                <a:solidFill>
                  <a:srgbClr val="0070C0"/>
                </a:solidFill>
              </a:rPr>
              <a:t>Definition</a:t>
            </a:r>
            <a:r>
              <a:rPr lang="en-US" b="1" dirty="0">
                <a:solidFill>
                  <a:srgbClr val="0070C0"/>
                </a:solidFill>
              </a:rPr>
              <a:t>:</a:t>
            </a:r>
            <a:r>
              <a:rPr lang="en-US" dirty="0">
                <a:solidFill>
                  <a:srgbClr val="0070C0"/>
                </a:solidFill>
              </a:rPr>
              <a:t> </a:t>
            </a:r>
            <a:r>
              <a:rPr lang="en-US" dirty="0"/>
              <a:t>Functions external to the LLM that the agent can call for real-world effect, such as:</a:t>
            </a:r>
          </a:p>
          <a:p>
            <a:pPr marL="457200" lvl="1" indent="0">
              <a:buNone/>
            </a:pPr>
            <a:r>
              <a:rPr lang="en-US" b="1" dirty="0">
                <a:solidFill>
                  <a:srgbClr val="0070C0"/>
                </a:solidFill>
              </a:rPr>
              <a:t>calculate:</a:t>
            </a:r>
            <a:r>
              <a:rPr lang="en-US" dirty="0">
                <a:solidFill>
                  <a:srgbClr val="0070C0"/>
                </a:solidFill>
              </a:rPr>
              <a:t> </a:t>
            </a:r>
            <a:r>
              <a:rPr lang="en-US" dirty="0"/>
              <a:t>A Python-based calculator.</a:t>
            </a:r>
          </a:p>
          <a:p>
            <a:pPr marL="457200" lvl="1" indent="0">
              <a:buNone/>
            </a:pPr>
            <a:r>
              <a:rPr lang="en-US" b="1" dirty="0" err="1">
                <a:solidFill>
                  <a:srgbClr val="0070C0"/>
                </a:solidFill>
              </a:rPr>
              <a:t>average_electricity_cost</a:t>
            </a:r>
            <a:r>
              <a:rPr lang="en-US" b="1" dirty="0">
                <a:solidFill>
                  <a:srgbClr val="0070C0"/>
                </a:solidFill>
              </a:rPr>
              <a:t>:</a:t>
            </a:r>
            <a:r>
              <a:rPr lang="en-US" dirty="0">
                <a:solidFill>
                  <a:srgbClr val="0070C0"/>
                </a:solidFill>
              </a:rPr>
              <a:t> </a:t>
            </a:r>
            <a:r>
              <a:rPr lang="en-US" dirty="0"/>
              <a:t>Returns average electricity cost per Indian state.</a:t>
            </a:r>
          </a:p>
          <a:p>
            <a:pPr marL="457200" lvl="1" indent="0">
              <a:buNone/>
            </a:pPr>
            <a:r>
              <a:rPr lang="en-US" b="1" dirty="0" err="1">
                <a:solidFill>
                  <a:srgbClr val="0070C0"/>
                </a:solidFill>
              </a:rPr>
              <a:t>ingredient_quantity</a:t>
            </a:r>
            <a:r>
              <a:rPr lang="en-US" b="1" dirty="0">
                <a:solidFill>
                  <a:srgbClr val="0070C0"/>
                </a:solidFill>
              </a:rPr>
              <a:t>:</a:t>
            </a:r>
            <a:r>
              <a:rPr lang="en-US" dirty="0">
                <a:solidFill>
                  <a:srgbClr val="0070C0"/>
                </a:solidFill>
              </a:rPr>
              <a:t> </a:t>
            </a:r>
            <a:r>
              <a:rPr lang="en-US" dirty="0"/>
              <a:t>Estimates food quantities for people, using Indian norms.</a:t>
            </a:r>
          </a:p>
          <a:p>
            <a:pPr marL="0" indent="0">
              <a:buNone/>
            </a:pPr>
            <a:r>
              <a:rPr lang="en-US" b="1" dirty="0">
                <a:solidFill>
                  <a:srgbClr val="0070C0"/>
                </a:solidFill>
              </a:rPr>
              <a:t>Need:</a:t>
            </a:r>
            <a:r>
              <a:rPr lang="en-US" dirty="0">
                <a:solidFill>
                  <a:srgbClr val="0070C0"/>
                </a:solidFill>
              </a:rPr>
              <a:t> </a:t>
            </a:r>
            <a:r>
              <a:rPr lang="en-US" dirty="0"/>
              <a:t>Allows the agent to answer questions that require computation, lookups, or logic outside the LLM’s core capabilities.</a:t>
            </a:r>
          </a:p>
          <a:p>
            <a:endParaRPr lang="en-IN" dirty="0"/>
          </a:p>
        </p:txBody>
      </p:sp>
    </p:spTree>
    <p:extLst>
      <p:ext uri="{BB962C8B-B14F-4D97-AF65-F5344CB8AC3E}">
        <p14:creationId xmlns:p14="http://schemas.microsoft.com/office/powerpoint/2010/main" val="234201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275856" y="548680"/>
            <a:ext cx="3024336" cy="5616624"/>
          </a:xfrm>
          <a:prstGeom prst="rect">
            <a:avLst/>
          </a:prstGeom>
        </p:spPr>
      </p:pic>
    </p:spTree>
    <p:extLst>
      <p:ext uri="{BB962C8B-B14F-4D97-AF65-F5344CB8AC3E}">
        <p14:creationId xmlns:p14="http://schemas.microsoft.com/office/powerpoint/2010/main" val="2356170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027583"/>
          </a:xfrm>
        </p:spPr>
        <p:txBody>
          <a:bodyPr/>
          <a:lstStyle/>
          <a:p>
            <a:pPr algn="ctr"/>
            <a:r>
              <a:rPr lang="en-US" b="1" dirty="0" err="1" smtClean="0">
                <a:solidFill>
                  <a:srgbClr val="0070C0"/>
                </a:solidFill>
              </a:rPr>
              <a:t>LangChain</a:t>
            </a:r>
            <a:r>
              <a:rPr lang="en-US" b="1" dirty="0" smtClean="0">
                <a:solidFill>
                  <a:srgbClr val="0070C0"/>
                </a:solidFill>
              </a:rPr>
              <a:t> Prompts</a:t>
            </a:r>
            <a:endParaRPr lang="en-IN" b="1" dirty="0">
              <a:solidFill>
                <a:srgbClr val="0070C0"/>
              </a:solidFill>
            </a:endParaRPr>
          </a:p>
        </p:txBody>
      </p:sp>
      <p:pic>
        <p:nvPicPr>
          <p:cNvPr id="3" name="Picture 2"/>
          <p:cNvPicPr>
            <a:picLocks noChangeAspect="1"/>
          </p:cNvPicPr>
          <p:nvPr/>
        </p:nvPicPr>
        <p:blipFill>
          <a:blip r:embed="rId2"/>
          <a:stretch>
            <a:fillRect/>
          </a:stretch>
        </p:blipFill>
        <p:spPr>
          <a:xfrm>
            <a:off x="2483768" y="2060848"/>
            <a:ext cx="5057819" cy="1728192"/>
          </a:xfrm>
          <a:prstGeom prst="rect">
            <a:avLst/>
          </a:prstGeom>
        </p:spPr>
      </p:pic>
      <p:pic>
        <p:nvPicPr>
          <p:cNvPr id="4" name="Picture 3"/>
          <p:cNvPicPr>
            <a:picLocks noChangeAspect="1"/>
          </p:cNvPicPr>
          <p:nvPr/>
        </p:nvPicPr>
        <p:blipFill>
          <a:blip r:embed="rId3"/>
          <a:stretch>
            <a:fillRect/>
          </a:stretch>
        </p:blipFill>
        <p:spPr>
          <a:xfrm>
            <a:off x="2489761" y="4365104"/>
            <a:ext cx="5051826" cy="1409700"/>
          </a:xfrm>
          <a:prstGeom prst="rect">
            <a:avLst/>
          </a:prstGeom>
        </p:spPr>
      </p:pic>
    </p:spTree>
    <p:extLst>
      <p:ext uri="{BB962C8B-B14F-4D97-AF65-F5344CB8AC3E}">
        <p14:creationId xmlns:p14="http://schemas.microsoft.com/office/powerpoint/2010/main" val="1520959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solidFill>
                  <a:srgbClr val="0070C0"/>
                </a:solidFill>
              </a:rPr>
              <a:t>LangChain</a:t>
            </a:r>
            <a:r>
              <a:rPr lang="en-US" b="1" dirty="0" smtClean="0">
                <a:solidFill>
                  <a:srgbClr val="0070C0"/>
                </a:solidFill>
              </a:rPr>
              <a:t> Tools</a:t>
            </a:r>
            <a:endParaRPr lang="en-IN" b="1" dirty="0">
              <a:solidFill>
                <a:srgbClr val="0070C0"/>
              </a:solidFill>
            </a:endParaRPr>
          </a:p>
        </p:txBody>
      </p:sp>
      <p:pic>
        <p:nvPicPr>
          <p:cNvPr id="3" name="Picture 2"/>
          <p:cNvPicPr>
            <a:picLocks noChangeAspect="1"/>
          </p:cNvPicPr>
          <p:nvPr/>
        </p:nvPicPr>
        <p:blipFill>
          <a:blip r:embed="rId2"/>
          <a:stretch>
            <a:fillRect/>
          </a:stretch>
        </p:blipFill>
        <p:spPr>
          <a:xfrm>
            <a:off x="2483768" y="2204864"/>
            <a:ext cx="5305425" cy="2400300"/>
          </a:xfrm>
          <a:prstGeom prst="rect">
            <a:avLst/>
          </a:prstGeom>
        </p:spPr>
      </p:pic>
    </p:spTree>
    <p:extLst>
      <p:ext uri="{BB962C8B-B14F-4D97-AF65-F5344CB8AC3E}">
        <p14:creationId xmlns:p14="http://schemas.microsoft.com/office/powerpoint/2010/main" val="593608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82133" y="457201"/>
            <a:ext cx="7704667" cy="667543"/>
          </a:xfrm>
        </p:spPr>
        <p:txBody>
          <a:bodyPr>
            <a:normAutofit fontScale="90000"/>
          </a:bodyPr>
          <a:lstStyle/>
          <a:p>
            <a:r>
              <a:rPr lang="en-US" b="1" dirty="0" smtClean="0">
                <a:solidFill>
                  <a:srgbClr val="0070C0"/>
                </a:solidFill>
              </a:rPr>
              <a:t>Lang Graph</a:t>
            </a:r>
            <a:endParaRPr lang="en-IN" b="1" dirty="0">
              <a:solidFill>
                <a:srgbClr val="0070C0"/>
              </a:solidFill>
            </a:endParaRPr>
          </a:p>
        </p:txBody>
      </p:sp>
      <p:sp>
        <p:nvSpPr>
          <p:cNvPr id="4" name="Content Placeholder 3"/>
          <p:cNvSpPr>
            <a:spLocks noGrp="1"/>
          </p:cNvSpPr>
          <p:nvPr>
            <p:ph idx="1"/>
          </p:nvPr>
        </p:nvSpPr>
        <p:spPr>
          <a:xfrm>
            <a:off x="899592" y="1628800"/>
            <a:ext cx="7704667" cy="3692856"/>
          </a:xfrm>
        </p:spPr>
        <p:txBody>
          <a:bodyPr>
            <a:normAutofit fontScale="92500" lnSpcReduction="20000"/>
          </a:bodyPr>
          <a:lstStyle/>
          <a:p>
            <a:pPr>
              <a:buFont typeface="Arial" panose="020B0604020202020204" pitchFamily="34" charset="0"/>
              <a:buChar char="•"/>
            </a:pPr>
            <a:r>
              <a:rPr lang="en-US" dirty="0" err="1" smtClean="0"/>
              <a:t>LangGraphs</a:t>
            </a:r>
            <a:r>
              <a:rPr lang="en-US" dirty="0" smtClean="0"/>
              <a:t> </a:t>
            </a:r>
            <a:r>
              <a:rPr lang="en-US" dirty="0"/>
              <a:t>is an extension of </a:t>
            </a:r>
            <a:r>
              <a:rPr lang="en-US" dirty="0" err="1"/>
              <a:t>LangChain</a:t>
            </a:r>
            <a:r>
              <a:rPr lang="en-US" dirty="0"/>
              <a:t> that supports </a:t>
            </a:r>
            <a:r>
              <a:rPr lang="en-US" dirty="0" smtClean="0"/>
              <a:t>Graphs</a:t>
            </a:r>
          </a:p>
          <a:p>
            <a:pPr>
              <a:buFont typeface="Arial" panose="020B0604020202020204" pitchFamily="34" charset="0"/>
              <a:buChar char="•"/>
            </a:pPr>
            <a:r>
              <a:rPr lang="en-US" dirty="0"/>
              <a:t>Single and Multi-agent flows are described and represented as </a:t>
            </a:r>
            <a:r>
              <a:rPr lang="en-US" dirty="0" smtClean="0"/>
              <a:t>Graphs</a:t>
            </a:r>
          </a:p>
          <a:p>
            <a:pPr>
              <a:buFont typeface="Arial" panose="020B0604020202020204" pitchFamily="34" charset="0"/>
              <a:buChar char="•"/>
            </a:pPr>
            <a:r>
              <a:rPr lang="en-US" dirty="0"/>
              <a:t>A framework for structuring LLM-based workflows as directed graphs. Each node is a “step” (e.g., call model, run tool), and edges define conditional logic and data flow</a:t>
            </a:r>
            <a:r>
              <a:rPr lang="en-US" dirty="0" smtClean="0"/>
              <a:t>.</a:t>
            </a:r>
            <a:endParaRPr lang="en-US" dirty="0"/>
          </a:p>
          <a:p>
            <a:pPr>
              <a:buFont typeface="Arial" panose="020B0604020202020204" pitchFamily="34" charset="0"/>
              <a:buChar char="•"/>
            </a:pPr>
            <a:r>
              <a:rPr lang="en-US" dirty="0" smtClean="0"/>
              <a:t>Allows </a:t>
            </a:r>
            <a:r>
              <a:rPr lang="en-US" dirty="0"/>
              <a:t>for extremely controlled “flows</a:t>
            </a:r>
            <a:r>
              <a:rPr lang="en-US" dirty="0" smtClean="0"/>
              <a:t>”</a:t>
            </a:r>
          </a:p>
          <a:p>
            <a:pPr>
              <a:buFont typeface="Arial" panose="020B0604020202020204" pitchFamily="34" charset="0"/>
              <a:buChar char="•"/>
            </a:pPr>
            <a:r>
              <a:rPr lang="en-US" dirty="0"/>
              <a:t>Allows building complex, multi-step reasoning agents with easily modifiable logic and clear data/state management</a:t>
            </a:r>
            <a:r>
              <a:rPr lang="en-US" dirty="0" smtClean="0"/>
              <a:t>.</a:t>
            </a:r>
            <a:endParaRPr lang="en-US" dirty="0"/>
          </a:p>
          <a:p>
            <a:pPr>
              <a:buFont typeface="Arial" panose="020B0604020202020204" pitchFamily="34" charset="0"/>
              <a:buChar char="•"/>
            </a:pPr>
            <a:r>
              <a:rPr lang="en-US" dirty="0"/>
              <a:t>Built-in persistence allows for human-in-the-loop workflows</a:t>
            </a:r>
            <a:endParaRPr lang="en-IN" dirty="0"/>
          </a:p>
          <a:p>
            <a:endParaRPr lang="en-IN" dirty="0"/>
          </a:p>
        </p:txBody>
      </p:sp>
    </p:spTree>
    <p:extLst>
      <p:ext uri="{BB962C8B-B14F-4D97-AF65-F5344CB8AC3E}">
        <p14:creationId xmlns:p14="http://schemas.microsoft.com/office/powerpoint/2010/main" val="35459371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955575"/>
          </a:xfrm>
        </p:spPr>
        <p:txBody>
          <a:bodyPr>
            <a:normAutofit fontScale="90000"/>
          </a:bodyPr>
          <a:lstStyle/>
          <a:p>
            <a:r>
              <a:rPr lang="en-IN" b="1" dirty="0">
                <a:solidFill>
                  <a:srgbClr val="0070C0"/>
                </a:solidFill>
              </a:rPr>
              <a:t>Graph Nodes &amp; Conditional Edges</a:t>
            </a:r>
            <a:br>
              <a:rPr lang="en-IN" b="1" dirty="0">
                <a:solidFill>
                  <a:srgbClr val="0070C0"/>
                </a:solidFill>
              </a:rPr>
            </a:br>
            <a:endParaRPr lang="en-IN" dirty="0">
              <a:solidFill>
                <a:srgbClr val="0070C0"/>
              </a:solidFill>
            </a:endParaRPr>
          </a:p>
        </p:txBody>
      </p:sp>
      <p:sp>
        <p:nvSpPr>
          <p:cNvPr id="3" name="Content Placeholder 2"/>
          <p:cNvSpPr>
            <a:spLocks noGrp="1"/>
          </p:cNvSpPr>
          <p:nvPr>
            <p:ph idx="1"/>
          </p:nvPr>
        </p:nvSpPr>
        <p:spPr>
          <a:xfrm>
            <a:off x="982132" y="1700808"/>
            <a:ext cx="7704667" cy="3332816"/>
          </a:xfrm>
        </p:spPr>
        <p:txBody>
          <a:bodyPr/>
          <a:lstStyle/>
          <a:p>
            <a:r>
              <a:rPr lang="en-US" dirty="0"/>
              <a:t>Nodes represent individual operations (like LLM calls or tool invocations); edges determine how execution moves </a:t>
            </a:r>
            <a:r>
              <a:rPr lang="en-US" dirty="0" smtClean="0"/>
              <a:t>state fully </a:t>
            </a:r>
            <a:r>
              <a:rPr lang="en-US" dirty="0"/>
              <a:t>based on outputs (e.g., did model request a tool</a:t>
            </a:r>
            <a:r>
              <a:rPr lang="en-US" dirty="0" smtClean="0"/>
              <a:t>?)</a:t>
            </a:r>
          </a:p>
          <a:p>
            <a:r>
              <a:rPr lang="en-US" dirty="0"/>
              <a:t>Enables decision branches, loops, and flexible multi-step queries.</a:t>
            </a:r>
            <a:endParaRPr lang="en-IN" dirty="0"/>
          </a:p>
        </p:txBody>
      </p:sp>
    </p:spTree>
    <p:extLst>
      <p:ext uri="{BB962C8B-B14F-4D97-AF65-F5344CB8AC3E}">
        <p14:creationId xmlns:p14="http://schemas.microsoft.com/office/powerpoint/2010/main" val="129221556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051720" y="1124744"/>
            <a:ext cx="1996496" cy="4464496"/>
          </a:xfrm>
          <a:prstGeom prst="rect">
            <a:avLst/>
          </a:prstGeom>
        </p:spPr>
      </p:pic>
      <p:sp>
        <p:nvSpPr>
          <p:cNvPr id="4" name="TextBox 3"/>
          <p:cNvSpPr txBox="1"/>
          <p:nvPr/>
        </p:nvSpPr>
        <p:spPr>
          <a:xfrm>
            <a:off x="4716016" y="2433662"/>
            <a:ext cx="2160240" cy="923330"/>
          </a:xfrm>
          <a:prstGeom prst="rect">
            <a:avLst/>
          </a:prstGeom>
          <a:noFill/>
        </p:spPr>
        <p:txBody>
          <a:bodyPr wrap="square" rtlCol="0">
            <a:spAutoFit/>
          </a:bodyPr>
          <a:lstStyle/>
          <a:p>
            <a:r>
              <a:rPr lang="en-US" dirty="0" smtClean="0"/>
              <a:t>Cyclic Graphs</a:t>
            </a:r>
          </a:p>
          <a:p>
            <a:r>
              <a:rPr lang="en-US" dirty="0" smtClean="0"/>
              <a:t>Persistence</a:t>
            </a:r>
          </a:p>
          <a:p>
            <a:r>
              <a:rPr lang="en-US" dirty="0" smtClean="0"/>
              <a:t>Human-in-the-Loop</a:t>
            </a:r>
            <a:endParaRPr lang="en-IN" dirty="0"/>
          </a:p>
        </p:txBody>
      </p:sp>
    </p:spTree>
    <p:extLst>
      <p:ext uri="{BB962C8B-B14F-4D97-AF65-F5344CB8AC3E}">
        <p14:creationId xmlns:p14="http://schemas.microsoft.com/office/powerpoint/2010/main" val="5332159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475656" y="404664"/>
            <a:ext cx="6408712" cy="2943225"/>
          </a:xfrm>
          <a:prstGeom prst="rect">
            <a:avLst/>
          </a:prstGeom>
        </p:spPr>
      </p:pic>
      <p:pic>
        <p:nvPicPr>
          <p:cNvPr id="5" name="Picture 4"/>
          <p:cNvPicPr>
            <a:picLocks noChangeAspect="1"/>
          </p:cNvPicPr>
          <p:nvPr/>
        </p:nvPicPr>
        <p:blipFill>
          <a:blip r:embed="rId3"/>
          <a:stretch>
            <a:fillRect/>
          </a:stretch>
        </p:blipFill>
        <p:spPr>
          <a:xfrm>
            <a:off x="1403648" y="3717032"/>
            <a:ext cx="6962775" cy="2228850"/>
          </a:xfrm>
          <a:prstGeom prst="rect">
            <a:avLst/>
          </a:prstGeom>
        </p:spPr>
      </p:pic>
    </p:spTree>
    <p:extLst>
      <p:ext uri="{BB962C8B-B14F-4D97-AF65-F5344CB8AC3E}">
        <p14:creationId xmlns:p14="http://schemas.microsoft.com/office/powerpoint/2010/main" val="10856463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95536" y="-99392"/>
            <a:ext cx="8640959" cy="2537793"/>
          </a:xfrm>
        </p:spPr>
        <p:txBody>
          <a:bodyPr>
            <a:normAutofit/>
          </a:bodyPr>
          <a:lstStyle/>
          <a:p>
            <a:r>
              <a:rPr lang="en-US" sz="2000" b="1" dirty="0" smtClean="0">
                <a:ln>
                  <a:noFill/>
                </a:ln>
                <a:solidFill>
                  <a:srgbClr val="0070C0"/>
                </a:solidFill>
                <a:latin typeface="Arial" panose="020B0604020202020204" pitchFamily="34" charset="0"/>
              </a:rPr>
              <a:t/>
            </a:r>
            <a:br>
              <a:rPr lang="en-US" sz="2000" b="1" dirty="0" smtClean="0">
                <a:ln>
                  <a:noFill/>
                </a:ln>
                <a:solidFill>
                  <a:srgbClr val="0070C0"/>
                </a:solidFill>
                <a:latin typeface="Arial" panose="020B0604020202020204" pitchFamily="34" charset="0"/>
              </a:rPr>
            </a:br>
            <a:r>
              <a:rPr lang="en-US" sz="2000" b="1" dirty="0" smtClean="0">
                <a:ln>
                  <a:noFill/>
                </a:ln>
                <a:solidFill>
                  <a:srgbClr val="0070C0"/>
                </a:solidFill>
                <a:latin typeface="Arial" panose="020B0604020202020204" pitchFamily="34" charset="0"/>
              </a:rPr>
              <a:t>Lab4 </a:t>
            </a:r>
            <a:r>
              <a:rPr lang="en-US" sz="2000" dirty="0" smtClean="0">
                <a:ln>
                  <a:noFill/>
                </a:ln>
                <a:solidFill>
                  <a:srgbClr val="0070C0"/>
                </a:solidFill>
                <a:latin typeface="Arial" panose="020B0604020202020204" pitchFamily="34" charset="0"/>
              </a:rPr>
              <a:t>demonstrates </a:t>
            </a:r>
            <a:r>
              <a:rPr lang="en-US" sz="2000" dirty="0">
                <a:ln>
                  <a:noFill/>
                </a:ln>
                <a:solidFill>
                  <a:srgbClr val="0070C0"/>
                </a:solidFill>
                <a:latin typeface="Arial" panose="020B0604020202020204" pitchFamily="34" charset="0"/>
              </a:rPr>
              <a:t>how to build a more advanced, </a:t>
            </a:r>
            <a:r>
              <a:rPr lang="en-US" sz="2000" dirty="0" smtClean="0">
                <a:ln>
                  <a:noFill/>
                </a:ln>
                <a:solidFill>
                  <a:srgbClr val="0070C0"/>
                </a:solidFill>
                <a:latin typeface="Arial" panose="020B0604020202020204" pitchFamily="34" charset="0"/>
              </a:rPr>
              <a:t/>
            </a:r>
            <a:br>
              <a:rPr lang="en-US" sz="2000" dirty="0" smtClean="0">
                <a:ln>
                  <a:noFill/>
                </a:ln>
                <a:solidFill>
                  <a:srgbClr val="0070C0"/>
                </a:solidFill>
                <a:latin typeface="Arial" panose="020B0604020202020204" pitchFamily="34" charset="0"/>
              </a:rPr>
            </a:br>
            <a:r>
              <a:rPr lang="en-US" sz="2000" dirty="0" smtClean="0">
                <a:ln>
                  <a:noFill/>
                </a:ln>
                <a:solidFill>
                  <a:srgbClr val="0070C0"/>
                </a:solidFill>
                <a:latin typeface="Arial" panose="020B0604020202020204" pitchFamily="34" charset="0"/>
              </a:rPr>
              <a:t>modular AI </a:t>
            </a:r>
            <a:r>
              <a:rPr lang="en-US" sz="2000" dirty="0">
                <a:ln>
                  <a:noFill/>
                </a:ln>
                <a:solidFill>
                  <a:srgbClr val="0070C0"/>
                </a:solidFill>
                <a:latin typeface="Arial" panose="020B0604020202020204" pitchFamily="34" charset="0"/>
              </a:rPr>
              <a:t>agent </a:t>
            </a:r>
            <a:r>
              <a:rPr lang="en-US" sz="2000" dirty="0" smtClean="0">
                <a:ln>
                  <a:noFill/>
                </a:ln>
                <a:solidFill>
                  <a:srgbClr val="0070C0"/>
                </a:solidFill>
                <a:latin typeface="Arial" panose="020B0604020202020204" pitchFamily="34" charset="0"/>
              </a:rPr>
              <a:t>using </a:t>
            </a:r>
            <a:r>
              <a:rPr lang="en-US" sz="2000" dirty="0">
                <a:ln>
                  <a:noFill/>
                </a:ln>
                <a:solidFill>
                  <a:srgbClr val="0070C0"/>
                </a:solidFill>
                <a:latin typeface="Arial" panose="020B0604020202020204" pitchFamily="34" charset="0"/>
              </a:rPr>
              <a:t>graph-based </a:t>
            </a:r>
            <a:r>
              <a:rPr lang="en-US" sz="2000" dirty="0" smtClean="0">
                <a:ln>
                  <a:noFill/>
                </a:ln>
                <a:solidFill>
                  <a:srgbClr val="0070C0"/>
                </a:solidFill>
                <a:latin typeface="Arial" panose="020B0604020202020204" pitchFamily="34" charset="0"/>
              </a:rPr>
              <a:t>workflows </a:t>
            </a:r>
            <a:r>
              <a:rPr lang="en-US" sz="2000" dirty="0" err="1" smtClean="0">
                <a:ln>
                  <a:noFill/>
                </a:ln>
                <a:solidFill>
                  <a:srgbClr val="0070C0"/>
                </a:solidFill>
                <a:latin typeface="Arial" panose="020B0604020202020204" pitchFamily="34" charset="0"/>
              </a:rPr>
              <a:t>LangGraph</a:t>
            </a:r>
            <a:r>
              <a:rPr lang="en-US" sz="2000" dirty="0" smtClean="0">
                <a:ln>
                  <a:noFill/>
                </a:ln>
                <a:solidFill>
                  <a:srgbClr val="0070C0"/>
                </a:solidFill>
                <a:latin typeface="Arial" panose="020B0604020202020204" pitchFamily="34" charset="0"/>
              </a:rPr>
              <a:t> </a:t>
            </a:r>
            <a:br>
              <a:rPr lang="en-US" sz="2000" dirty="0" smtClean="0">
                <a:ln>
                  <a:noFill/>
                </a:ln>
                <a:solidFill>
                  <a:srgbClr val="0070C0"/>
                </a:solidFill>
                <a:latin typeface="Arial" panose="020B0604020202020204" pitchFamily="34" charset="0"/>
              </a:rPr>
            </a:br>
            <a:r>
              <a:rPr lang="en-US" sz="2000" dirty="0" smtClean="0">
                <a:ln>
                  <a:noFill/>
                </a:ln>
                <a:solidFill>
                  <a:srgbClr val="0070C0"/>
                </a:solidFill>
                <a:latin typeface="Arial" panose="020B0604020202020204" pitchFamily="34" charset="0"/>
              </a:rPr>
              <a:t>together with </a:t>
            </a:r>
            <a:r>
              <a:rPr lang="en-US" sz="2000" dirty="0" err="1" smtClean="0">
                <a:ln>
                  <a:noFill/>
                </a:ln>
                <a:solidFill>
                  <a:srgbClr val="0070C0"/>
                </a:solidFill>
                <a:latin typeface="Arial" panose="020B0604020202020204" pitchFamily="34" charset="0"/>
              </a:rPr>
              <a:t>LangChain</a:t>
            </a:r>
            <a:r>
              <a:rPr lang="en-US" sz="2000" dirty="0" smtClean="0">
                <a:ln>
                  <a:noFill/>
                </a:ln>
                <a:solidFill>
                  <a:srgbClr val="0070C0"/>
                </a:solidFill>
                <a:latin typeface="Arial" panose="020B0604020202020204" pitchFamily="34" charset="0"/>
              </a:rPr>
              <a:t> and </a:t>
            </a:r>
            <a:r>
              <a:rPr lang="en-US" sz="2000" dirty="0" err="1" smtClean="0">
                <a:ln>
                  <a:noFill/>
                </a:ln>
                <a:solidFill>
                  <a:srgbClr val="0070C0"/>
                </a:solidFill>
                <a:latin typeface="Arial" panose="020B0604020202020204" pitchFamily="34" charset="0"/>
              </a:rPr>
              <a:t>OpenAI</a:t>
            </a:r>
            <a:r>
              <a:rPr lang="en-US" sz="2000" dirty="0" smtClean="0">
                <a:ln>
                  <a:noFill/>
                </a:ln>
                <a:solidFill>
                  <a:srgbClr val="0070C0"/>
                </a:solidFill>
                <a:latin typeface="Arial" panose="020B0604020202020204" pitchFamily="34" charset="0"/>
              </a:rPr>
              <a:t> APIs</a:t>
            </a:r>
            <a:r>
              <a:rPr lang="en-US" sz="2000" dirty="0">
                <a:ln>
                  <a:noFill/>
                </a:ln>
                <a:solidFill>
                  <a:srgbClr val="0070C0"/>
                </a:solidFill>
                <a:latin typeface="Arial" panose="020B0604020202020204" pitchFamily="34" charset="0"/>
              </a:rPr>
              <a:t/>
            </a:r>
            <a:br>
              <a:rPr lang="en-US" sz="2000" dirty="0">
                <a:ln>
                  <a:noFill/>
                </a:ln>
                <a:solidFill>
                  <a:srgbClr val="0070C0"/>
                </a:solidFill>
                <a:latin typeface="Arial" panose="020B0604020202020204" pitchFamily="34" charset="0"/>
              </a:rPr>
            </a:br>
            <a:r>
              <a:rPr lang="en-US" sz="2000" b="1" dirty="0">
                <a:ln>
                  <a:noFill/>
                </a:ln>
                <a:solidFill>
                  <a:srgbClr val="0070C0"/>
                </a:solidFill>
                <a:latin typeface="Arial" panose="020B0604020202020204" pitchFamily="34" charset="0"/>
              </a:rPr>
              <a:t/>
            </a:r>
            <a:br>
              <a:rPr lang="en-US" sz="2000" b="1" dirty="0">
                <a:ln>
                  <a:noFill/>
                </a:ln>
                <a:solidFill>
                  <a:srgbClr val="0070C0"/>
                </a:solidFill>
                <a:latin typeface="Arial" panose="020B0604020202020204" pitchFamily="34" charset="0"/>
              </a:rPr>
            </a:br>
            <a:endParaRPr lang="en-IN" sz="2000" dirty="0">
              <a:solidFill>
                <a:srgbClr val="0070C0"/>
              </a:solidFill>
            </a:endParaRPr>
          </a:p>
        </p:txBody>
      </p:sp>
      <p:sp>
        <p:nvSpPr>
          <p:cNvPr id="5" name="Rectangle 1"/>
          <p:cNvSpPr>
            <a:spLocks noGrp="1" noChangeArrowheads="1"/>
          </p:cNvSpPr>
          <p:nvPr>
            <p:ph idx="1"/>
          </p:nvPr>
        </p:nvSpPr>
        <p:spPr bwMode="auto">
          <a:xfrm>
            <a:off x="827584" y="1789367"/>
            <a:ext cx="813690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Building agent state and workflows as a directed graph.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Integrating external tools (search engine via </a:t>
            </a:r>
            <a:r>
              <a:rPr kumimoji="0" lang="en-US" sz="1800" b="0" i="0" u="none" strike="noStrike" cap="none" normalizeH="0" baseline="0" dirty="0" err="1" smtClean="0">
                <a:ln>
                  <a:noFill/>
                </a:ln>
                <a:solidFill>
                  <a:schemeClr val="tx1"/>
                </a:solidFill>
                <a:effectLst/>
                <a:latin typeface="Arial" panose="020B0604020202020204" pitchFamily="34" charset="0"/>
              </a:rPr>
              <a:t>Tavily</a:t>
            </a:r>
            <a:r>
              <a:rPr kumimoji="0" 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Handling multi-step complex queries (e.g., information lookup, sequential tool use).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Creating a conversational research assistant that can reason, access tools, and return composed answers.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651554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59632" y="692696"/>
            <a:ext cx="7229475" cy="5257800"/>
          </a:xfrm>
          <a:prstGeom prst="rect">
            <a:avLst/>
          </a:prstGeom>
        </p:spPr>
      </p:pic>
    </p:spTree>
    <p:extLst>
      <p:ext uri="{BB962C8B-B14F-4D97-AF65-F5344CB8AC3E}">
        <p14:creationId xmlns:p14="http://schemas.microsoft.com/office/powerpoint/2010/main" val="24487379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195736" y="260648"/>
            <a:ext cx="5617553" cy="6480720"/>
          </a:xfrm>
          <a:prstGeom prst="rect">
            <a:avLst/>
          </a:prstGeom>
        </p:spPr>
      </p:pic>
    </p:spTree>
    <p:extLst>
      <p:ext uri="{BB962C8B-B14F-4D97-AF65-F5344CB8AC3E}">
        <p14:creationId xmlns:p14="http://schemas.microsoft.com/office/powerpoint/2010/main" val="36660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91680" y="908720"/>
            <a:ext cx="6435105" cy="3034042"/>
          </a:xfrm>
          <a:prstGeom prst="rect">
            <a:avLst/>
          </a:prstGeom>
        </p:spPr>
      </p:pic>
      <p:pic>
        <p:nvPicPr>
          <p:cNvPr id="5" name="Picture 4"/>
          <p:cNvPicPr>
            <a:picLocks noChangeAspect="1"/>
          </p:cNvPicPr>
          <p:nvPr/>
        </p:nvPicPr>
        <p:blipFill>
          <a:blip r:embed="rId3"/>
          <a:stretch>
            <a:fillRect/>
          </a:stretch>
        </p:blipFill>
        <p:spPr>
          <a:xfrm>
            <a:off x="1691680" y="4869160"/>
            <a:ext cx="5705475" cy="990600"/>
          </a:xfrm>
          <a:prstGeom prst="rect">
            <a:avLst/>
          </a:prstGeom>
        </p:spPr>
      </p:pic>
      <p:sp>
        <p:nvSpPr>
          <p:cNvPr id="6" name="TextBox 5"/>
          <p:cNvSpPr txBox="1"/>
          <p:nvPr/>
        </p:nvSpPr>
        <p:spPr>
          <a:xfrm>
            <a:off x="1691680" y="4489070"/>
            <a:ext cx="873957" cy="461665"/>
          </a:xfrm>
          <a:prstGeom prst="rect">
            <a:avLst/>
          </a:prstGeom>
          <a:noFill/>
        </p:spPr>
        <p:txBody>
          <a:bodyPr wrap="none" rtlCol="0">
            <a:spAutoFit/>
          </a:bodyPr>
          <a:lstStyle/>
          <a:p>
            <a:r>
              <a:rPr lang="en-US" sz="2400" dirty="0" smtClean="0"/>
              <a:t>State</a:t>
            </a:r>
            <a:endParaRPr lang="en-IN" sz="2400" dirty="0"/>
          </a:p>
        </p:txBody>
      </p:sp>
    </p:spTree>
    <p:extLst>
      <p:ext uri="{BB962C8B-B14F-4D97-AF65-F5344CB8AC3E}">
        <p14:creationId xmlns:p14="http://schemas.microsoft.com/office/powerpoint/2010/main" val="3776206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027583"/>
          </a:xfrm>
        </p:spPr>
        <p:txBody>
          <a:bodyPr/>
          <a:lstStyle/>
          <a:p>
            <a:r>
              <a:rPr lang="en-US" dirty="0" err="1" smtClean="0">
                <a:solidFill>
                  <a:srgbClr val="0070C0"/>
                </a:solidFill>
              </a:rPr>
              <a:t>Agentic</a:t>
            </a:r>
            <a:r>
              <a:rPr lang="en-US" dirty="0" smtClean="0">
                <a:solidFill>
                  <a:srgbClr val="0070C0"/>
                </a:solidFill>
              </a:rPr>
              <a:t> Search Tools</a:t>
            </a:r>
            <a:endParaRPr lang="en-IN" dirty="0">
              <a:solidFill>
                <a:srgbClr val="0070C0"/>
              </a:solidFill>
            </a:endParaRPr>
          </a:p>
        </p:txBody>
      </p:sp>
      <p:pic>
        <p:nvPicPr>
          <p:cNvPr id="3" name="Picture 2"/>
          <p:cNvPicPr>
            <a:picLocks noChangeAspect="1"/>
          </p:cNvPicPr>
          <p:nvPr/>
        </p:nvPicPr>
        <p:blipFill>
          <a:blip r:embed="rId2"/>
          <a:stretch>
            <a:fillRect/>
          </a:stretch>
        </p:blipFill>
        <p:spPr>
          <a:xfrm>
            <a:off x="1475656" y="1772816"/>
            <a:ext cx="6419850" cy="3448050"/>
          </a:xfrm>
          <a:prstGeom prst="rect">
            <a:avLst/>
          </a:prstGeom>
        </p:spPr>
      </p:pic>
    </p:spTree>
    <p:extLst>
      <p:ext uri="{BB962C8B-B14F-4D97-AF65-F5344CB8AC3E}">
        <p14:creationId xmlns:p14="http://schemas.microsoft.com/office/powerpoint/2010/main" val="1140259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259632" y="764704"/>
            <a:ext cx="7365256" cy="5192895"/>
          </a:xfrm>
          <a:prstGeom prst="rect">
            <a:avLst/>
          </a:prstGeom>
        </p:spPr>
      </p:pic>
    </p:spTree>
    <p:extLst>
      <p:ext uri="{BB962C8B-B14F-4D97-AF65-F5344CB8AC3E}">
        <p14:creationId xmlns:p14="http://schemas.microsoft.com/office/powerpoint/2010/main" val="41233041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Persistence and Streaming</a:t>
            </a:r>
            <a:endParaRPr lang="en-IN" dirty="0">
              <a:solidFill>
                <a:srgbClr val="0070C0"/>
              </a:solidFill>
            </a:endParaRPr>
          </a:p>
        </p:txBody>
      </p:sp>
      <p:sp>
        <p:nvSpPr>
          <p:cNvPr id="4" name="Content Placeholder 3"/>
          <p:cNvSpPr>
            <a:spLocks noGrp="1"/>
          </p:cNvSpPr>
          <p:nvPr>
            <p:ph idx="1"/>
          </p:nvPr>
        </p:nvSpPr>
        <p:spPr>
          <a:xfrm>
            <a:off x="1115616" y="1988840"/>
            <a:ext cx="7704667" cy="3332816"/>
          </a:xfrm>
        </p:spPr>
        <p:txBody>
          <a:bodyPr>
            <a:normAutofit fontScale="92500" lnSpcReduction="10000"/>
          </a:bodyPr>
          <a:lstStyle/>
          <a:p>
            <a:r>
              <a:rPr lang="en-US" dirty="0"/>
              <a:t>It enables memory of past interactions, decisions, and external tool invocations</a:t>
            </a:r>
            <a:r>
              <a:rPr lang="en-US" dirty="0" smtClean="0"/>
              <a:t>.</a:t>
            </a:r>
          </a:p>
          <a:p>
            <a:r>
              <a:rPr lang="en-US" dirty="0"/>
              <a:t>For search or research-based agents, persistent state allows threaded, context-rich conversations where the AI naturally understands follow-up questions and maintains logic, rather than treating each turn in isolation</a:t>
            </a:r>
            <a:r>
              <a:rPr lang="en-US" dirty="0" smtClean="0"/>
              <a:t>.</a:t>
            </a:r>
          </a:p>
          <a:p>
            <a:r>
              <a:rPr lang="en-US" b="1" dirty="0">
                <a:solidFill>
                  <a:srgbClr val="002060"/>
                </a:solidFill>
              </a:rPr>
              <a:t>Streaming</a:t>
            </a:r>
            <a:r>
              <a:rPr lang="en-US" dirty="0"/>
              <a:t> refers to the real-time, incremental processing and delivery of results from an </a:t>
            </a:r>
            <a:r>
              <a:rPr lang="en-US" dirty="0" smtClean="0"/>
              <a:t>agent rather </a:t>
            </a:r>
            <a:r>
              <a:rPr lang="en-US" dirty="0"/>
              <a:t>than waiting for an all-at-once response. </a:t>
            </a:r>
            <a:endParaRPr lang="en-IN" dirty="0"/>
          </a:p>
        </p:txBody>
      </p:sp>
    </p:spTree>
    <p:extLst>
      <p:ext uri="{BB962C8B-B14F-4D97-AF65-F5344CB8AC3E}">
        <p14:creationId xmlns:p14="http://schemas.microsoft.com/office/powerpoint/2010/main" val="3542414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619672" y="332656"/>
            <a:ext cx="6984776" cy="5949995"/>
          </a:xfrm>
          <a:prstGeom prst="rect">
            <a:avLst/>
          </a:prstGeom>
        </p:spPr>
      </p:pic>
    </p:spTree>
    <p:extLst>
      <p:ext uri="{BB962C8B-B14F-4D97-AF65-F5344CB8AC3E}">
        <p14:creationId xmlns:p14="http://schemas.microsoft.com/office/powerpoint/2010/main" val="27380240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71600" y="764704"/>
            <a:ext cx="7704667" cy="360040"/>
          </a:xfrm>
        </p:spPr>
        <p:txBody>
          <a:bodyPr>
            <a:normAutofit fontScale="90000"/>
          </a:bodyPr>
          <a:lstStyle/>
          <a:p>
            <a:pPr lvl="0"/>
            <a:r>
              <a:rPr lang="en-US" b="1" dirty="0">
                <a:ln>
                  <a:noFill/>
                </a:ln>
                <a:solidFill>
                  <a:srgbClr val="0070C0"/>
                </a:solidFill>
                <a:latin typeface="Arial" panose="020B0604020202020204" pitchFamily="34" charset="0"/>
                <a:cs typeface="Arial" panose="020B0604020202020204" pitchFamily="34" charset="0"/>
              </a:rPr>
              <a:t>Example Use Case</a:t>
            </a:r>
            <a:br>
              <a:rPr lang="en-US" b="1" dirty="0">
                <a:ln>
                  <a:noFill/>
                </a:ln>
                <a:solidFill>
                  <a:srgbClr val="0070C0"/>
                </a:solidFill>
                <a:latin typeface="Arial" panose="020B0604020202020204" pitchFamily="34" charset="0"/>
                <a:cs typeface="Arial" panose="020B0604020202020204" pitchFamily="34" charset="0"/>
              </a:rPr>
            </a:br>
            <a:endParaRPr lang="en-IN" dirty="0">
              <a:solidFill>
                <a:srgbClr val="0070C0"/>
              </a:solidFill>
            </a:endParaRPr>
          </a:p>
        </p:txBody>
      </p:sp>
      <p:sp>
        <p:nvSpPr>
          <p:cNvPr id="5" name="Rectangle 2"/>
          <p:cNvSpPr>
            <a:spLocks noGrp="1" noChangeArrowheads="1"/>
          </p:cNvSpPr>
          <p:nvPr>
            <p:ph idx="1"/>
          </p:nvPr>
        </p:nvSpPr>
        <p:spPr bwMode="auto">
          <a:xfrm>
            <a:off x="1115616" y="2122110"/>
            <a:ext cx="727280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mj-lt"/>
                <a:cs typeface="Arial" panose="020B0604020202020204" pitchFamily="34" charset="0"/>
              </a:rPr>
              <a:t>Suppose state['task'] is: "Research the latest trends on electric vehicles"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mj-lt"/>
                <a:cs typeface="Arial" panose="020B0604020202020204" pitchFamily="34" charset="0"/>
              </a:rPr>
              <a:t>The system prompt (PLAN_PROMPT) might instruct the LLM to produce a step-by-step plan to perform this research.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mj-lt"/>
                <a:cs typeface="Arial" panose="020B0604020202020204" pitchFamily="34" charset="0"/>
              </a:rPr>
              <a:t>The LLM might respond with something like:</a:t>
            </a:r>
            <a:br>
              <a:rPr kumimoji="0" lang="en-US" sz="2000" b="0" i="0" u="none" strike="noStrike" cap="none" normalizeH="0" baseline="0" dirty="0" smtClean="0">
                <a:ln>
                  <a:noFill/>
                </a:ln>
                <a:solidFill>
                  <a:schemeClr val="tx1"/>
                </a:solidFill>
                <a:effectLst/>
                <a:latin typeface="+mj-lt"/>
                <a:cs typeface="Arial" panose="020B0604020202020204" pitchFamily="34" charset="0"/>
              </a:rPr>
            </a:br>
            <a:r>
              <a:rPr kumimoji="0" lang="en-US" sz="2000" b="0" i="0" u="none" strike="noStrike" cap="none" normalizeH="0" baseline="0" dirty="0" smtClean="0">
                <a:ln>
                  <a:noFill/>
                </a:ln>
                <a:solidFill>
                  <a:schemeClr val="tx1"/>
                </a:solidFill>
                <a:effectLst/>
                <a:latin typeface="+mj-lt"/>
                <a:cs typeface="Arial" panose="020B0604020202020204" pitchFamily="34" charset="0"/>
              </a:rPr>
              <a:t>"1. Identify key topics on electric vehicles\n2. Search recent articles and news\n3. Summarize findings\n4. Prepare a report"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mj-lt"/>
                <a:cs typeface="Arial" panose="020B0604020202020204" pitchFamily="34" charset="0"/>
              </a:rPr>
              <a:t>The </a:t>
            </a:r>
            <a:r>
              <a:rPr kumimoji="0" lang="en-US" sz="2000" b="0" i="0" u="none" strike="noStrike" cap="none" normalizeH="0" baseline="0" dirty="0" err="1" smtClean="0">
                <a:ln>
                  <a:noFill/>
                </a:ln>
                <a:solidFill>
                  <a:schemeClr val="tx1"/>
                </a:solidFill>
                <a:effectLst/>
                <a:latin typeface="+mj-lt"/>
                <a:cs typeface="Arial" panose="020B0604020202020204" pitchFamily="34" charset="0"/>
              </a:rPr>
              <a:t>plan_node</a:t>
            </a:r>
            <a:r>
              <a:rPr kumimoji="0" lang="en-US" sz="2000" b="0" i="0" u="none" strike="noStrike" cap="none" normalizeH="0" baseline="0" dirty="0" smtClean="0">
                <a:ln>
                  <a:noFill/>
                </a:ln>
                <a:solidFill>
                  <a:schemeClr val="tx1"/>
                </a:solidFill>
                <a:effectLst/>
                <a:latin typeface="+mj-lt"/>
                <a:cs typeface="Arial" panose="020B0604020202020204" pitchFamily="34" charset="0"/>
              </a:rPr>
              <a:t> returns { "plan": "1. Identify ... 4. Prepare report"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mj-lt"/>
                <a:cs typeface="Arial" panose="020B0604020202020204" pitchFamily="34" charset="0"/>
              </a:rPr>
              <a:t>Our agent graph can then use this plan to call corresponding nodes or tools.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mj-lt"/>
              <a:cs typeface="Arial" panose="020B0604020202020204" pitchFamily="34" charset="0"/>
            </a:endParaRPr>
          </a:p>
        </p:txBody>
      </p:sp>
    </p:spTree>
    <p:extLst>
      <p:ext uri="{BB962C8B-B14F-4D97-AF65-F5344CB8AC3E}">
        <p14:creationId xmlns:p14="http://schemas.microsoft.com/office/powerpoint/2010/main" val="8413640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S</a:t>
            </a:r>
            <a:r>
              <a:rPr lang="en-US" b="1" dirty="0" smtClean="0">
                <a:solidFill>
                  <a:srgbClr val="0070C0"/>
                </a:solidFill>
              </a:rPr>
              <a:t>cope </a:t>
            </a:r>
            <a:r>
              <a:rPr lang="en-US" b="1" dirty="0">
                <a:solidFill>
                  <a:srgbClr val="0070C0"/>
                </a:solidFill>
              </a:rPr>
              <a:t>of </a:t>
            </a:r>
            <a:r>
              <a:rPr lang="en-US" b="1" dirty="0" err="1">
                <a:solidFill>
                  <a:srgbClr val="0070C0"/>
                </a:solidFill>
              </a:rPr>
              <a:t>Pydantic</a:t>
            </a:r>
            <a:r>
              <a:rPr lang="en-US" b="1" dirty="0">
                <a:solidFill>
                  <a:srgbClr val="0070C0"/>
                </a:solidFill>
              </a:rPr>
              <a:t> </a:t>
            </a:r>
            <a:r>
              <a:rPr lang="en-US" b="1" dirty="0" smtClean="0">
                <a:solidFill>
                  <a:srgbClr val="0070C0"/>
                </a:solidFill>
              </a:rPr>
              <a:t>in </a:t>
            </a:r>
            <a:r>
              <a:rPr lang="en-US" b="1" dirty="0">
                <a:solidFill>
                  <a:srgbClr val="0070C0"/>
                </a:solidFill>
              </a:rPr>
              <a:t>the context of </a:t>
            </a:r>
            <a:r>
              <a:rPr lang="en-US" b="1" dirty="0" err="1">
                <a:solidFill>
                  <a:srgbClr val="0070C0"/>
                </a:solidFill>
              </a:rPr>
              <a:t>Agentic</a:t>
            </a:r>
            <a:r>
              <a:rPr lang="en-US" b="1" dirty="0">
                <a:solidFill>
                  <a:srgbClr val="0070C0"/>
                </a:solidFill>
              </a:rPr>
              <a:t> AI</a:t>
            </a:r>
            <a:endParaRPr lang="en-IN" b="1" dirty="0">
              <a:solidFill>
                <a:srgbClr val="0070C0"/>
              </a:solidFill>
            </a:endParaRPr>
          </a:p>
        </p:txBody>
      </p:sp>
      <p:sp>
        <p:nvSpPr>
          <p:cNvPr id="3" name="Content Placeholder 2"/>
          <p:cNvSpPr>
            <a:spLocks noGrp="1"/>
          </p:cNvSpPr>
          <p:nvPr>
            <p:ph idx="1"/>
          </p:nvPr>
        </p:nvSpPr>
        <p:spPr/>
        <p:txBody>
          <a:bodyPr>
            <a:normAutofit fontScale="77500" lnSpcReduction="20000"/>
          </a:bodyPr>
          <a:lstStyle/>
          <a:p>
            <a:pPr marL="0" indent="0">
              <a:buNone/>
            </a:pPr>
            <a:r>
              <a:rPr lang="en-US" b="1" dirty="0"/>
              <a:t>1. Structured Data Validation and Parsing</a:t>
            </a:r>
          </a:p>
          <a:p>
            <a:pPr marL="0" indent="0">
              <a:buNone/>
            </a:pPr>
            <a:r>
              <a:rPr lang="en-US" dirty="0" err="1"/>
              <a:t>Pydantic</a:t>
            </a:r>
            <a:r>
              <a:rPr lang="en-US" dirty="0"/>
              <a:t> models provide a concrete, type-safe way to define and validate the </a:t>
            </a:r>
            <a:r>
              <a:rPr lang="en-US" i="1" dirty="0"/>
              <a:t>structure</a:t>
            </a:r>
            <a:r>
              <a:rPr lang="en-US" dirty="0"/>
              <a:t> of the data flowing through an agent workflow. This includes:</a:t>
            </a:r>
          </a:p>
          <a:p>
            <a:pPr marL="0" indent="0">
              <a:buNone/>
            </a:pPr>
            <a:r>
              <a:rPr lang="en-US" b="1" dirty="0"/>
              <a:t>Input state</a:t>
            </a:r>
            <a:r>
              <a:rPr lang="en-US" dirty="0"/>
              <a:t> (such as a user query, research task, or system configuration)</a:t>
            </a:r>
          </a:p>
          <a:p>
            <a:pPr marL="0" indent="0">
              <a:buNone/>
            </a:pPr>
            <a:r>
              <a:rPr lang="en-US" b="1" dirty="0"/>
              <a:t>Node outputs</a:t>
            </a:r>
            <a:r>
              <a:rPr lang="en-US" dirty="0"/>
              <a:t> (like a plan, list of queries, summary draft, critique)</a:t>
            </a:r>
          </a:p>
          <a:p>
            <a:pPr marL="0" indent="0">
              <a:buNone/>
            </a:pPr>
            <a:r>
              <a:rPr lang="en-US" b="1" dirty="0"/>
              <a:t>Tool and LLM function arguments and returns</a:t>
            </a:r>
            <a:endParaRPr lang="en-US" dirty="0"/>
          </a:p>
          <a:p>
            <a:pPr marL="0" indent="0">
              <a:buNone/>
            </a:pPr>
            <a:r>
              <a:rPr lang="en-US" dirty="0"/>
              <a:t>By defining your state or outputs using a </a:t>
            </a:r>
            <a:r>
              <a:rPr lang="en-US" dirty="0" err="1"/>
              <a:t>Pydantic</a:t>
            </a:r>
            <a:r>
              <a:rPr lang="en-US" dirty="0"/>
              <a:t> model, you guarantee at every step that your agent nodes receive and emit data in a known, expected, and validated format—helping prevent runtime errors and data corruption.</a:t>
            </a:r>
          </a:p>
          <a:p>
            <a:pPr marL="0" indent="0">
              <a:buNone/>
            </a:pPr>
            <a:endParaRPr lang="en-IN" dirty="0"/>
          </a:p>
        </p:txBody>
      </p:sp>
    </p:spTree>
    <p:extLst>
      <p:ext uri="{BB962C8B-B14F-4D97-AF65-F5344CB8AC3E}">
        <p14:creationId xmlns:p14="http://schemas.microsoft.com/office/powerpoint/2010/main" val="2881479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2133" y="1628800"/>
            <a:ext cx="7704667" cy="4371016"/>
          </a:xfrm>
        </p:spPr>
        <p:txBody>
          <a:bodyPr>
            <a:normAutofit fontScale="92500" lnSpcReduction="10000"/>
          </a:bodyPr>
          <a:lstStyle/>
          <a:p>
            <a:pPr marL="0" indent="0">
              <a:buNone/>
            </a:pPr>
            <a:r>
              <a:rPr lang="en-IN" b="1" dirty="0"/>
              <a:t>2. Inter-Node Communication and State </a:t>
            </a:r>
            <a:r>
              <a:rPr lang="en-IN" b="1" dirty="0" smtClean="0"/>
              <a:t>Management</a:t>
            </a:r>
          </a:p>
          <a:p>
            <a:pPr marL="0" indent="0">
              <a:buNone/>
            </a:pPr>
            <a:r>
              <a:rPr lang="en-US" dirty="0"/>
              <a:t>Enable reliable passing of data between agent nodes (such as moving from planning to research, then to generation, critique, and so on).</a:t>
            </a:r>
            <a:endParaRPr lang="en-IN" b="1" dirty="0" smtClean="0"/>
          </a:p>
          <a:p>
            <a:pPr marL="0" indent="0">
              <a:buNone/>
            </a:pPr>
            <a:r>
              <a:rPr lang="en-US" b="1" dirty="0"/>
              <a:t>3. Serialization for Persistence and </a:t>
            </a:r>
            <a:r>
              <a:rPr lang="en-US" b="1" dirty="0" err="1" smtClean="0"/>
              <a:t>Checkpointing</a:t>
            </a:r>
            <a:endParaRPr lang="en-US" b="1" dirty="0" smtClean="0"/>
          </a:p>
          <a:p>
            <a:pPr marL="0" indent="0">
              <a:buNone/>
            </a:pPr>
            <a:r>
              <a:rPr lang="en-US" b="1" dirty="0"/>
              <a:t>Easy serialization and deserialization</a:t>
            </a:r>
            <a:r>
              <a:rPr lang="en-US" dirty="0"/>
              <a:t> (e.g., to/from JSON), essential for saving and restoring agent state and outputs.</a:t>
            </a:r>
            <a:endParaRPr lang="en-US" b="1" dirty="0"/>
          </a:p>
          <a:p>
            <a:pPr marL="0" indent="0">
              <a:buNone/>
            </a:pPr>
            <a:r>
              <a:rPr lang="en-US" b="1" dirty="0"/>
              <a:t>4. Schema-Aware LLM and Tool </a:t>
            </a:r>
            <a:r>
              <a:rPr lang="en-US" b="1" dirty="0" smtClean="0"/>
              <a:t>Integration</a:t>
            </a:r>
          </a:p>
          <a:p>
            <a:pPr marL="0" indent="0">
              <a:buNone/>
            </a:pPr>
            <a:r>
              <a:rPr lang="en-US" dirty="0"/>
              <a:t>Many LLM frameworks, including </a:t>
            </a:r>
            <a:r>
              <a:rPr lang="en-US" dirty="0" err="1"/>
              <a:t>LangChain</a:t>
            </a:r>
            <a:r>
              <a:rPr lang="en-US" dirty="0"/>
              <a:t>, allow </a:t>
            </a:r>
            <a:r>
              <a:rPr lang="en-US" i="1" dirty="0"/>
              <a:t>schema-based function calling</a:t>
            </a:r>
            <a:r>
              <a:rPr lang="en-US" dirty="0"/>
              <a:t> or </a:t>
            </a:r>
            <a:r>
              <a:rPr lang="en-US" i="1" dirty="0"/>
              <a:t>structured output</a:t>
            </a:r>
            <a:r>
              <a:rPr lang="en-US" dirty="0"/>
              <a:t> from LLMs and tools.</a:t>
            </a:r>
            <a:endParaRPr lang="en-US" b="1" dirty="0"/>
          </a:p>
          <a:p>
            <a:pPr marL="0" indent="0">
              <a:buNone/>
            </a:pPr>
            <a:r>
              <a:rPr lang="en-US" b="1" dirty="0"/>
              <a:t>5. Ease of Extension and </a:t>
            </a:r>
            <a:r>
              <a:rPr lang="en-US" b="1" dirty="0" smtClean="0"/>
              <a:t>Maintainability</a:t>
            </a:r>
          </a:p>
          <a:p>
            <a:pPr marL="0" indent="0">
              <a:buNone/>
            </a:pPr>
            <a:endParaRPr lang="en-US" b="1" dirty="0"/>
          </a:p>
          <a:p>
            <a:pPr marL="0" indent="0">
              <a:buNone/>
            </a:pPr>
            <a:endParaRPr lang="en-IN" b="1" dirty="0"/>
          </a:p>
          <a:p>
            <a:endParaRPr lang="en-IN" dirty="0"/>
          </a:p>
        </p:txBody>
      </p:sp>
    </p:spTree>
    <p:extLst>
      <p:ext uri="{BB962C8B-B14F-4D97-AF65-F5344CB8AC3E}">
        <p14:creationId xmlns:p14="http://schemas.microsoft.com/office/powerpoint/2010/main" val="13548344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The Whole Process as a Prompt through commercial </a:t>
            </a:r>
            <a:r>
              <a:rPr lang="en-US" dirty="0" err="1" smtClean="0">
                <a:solidFill>
                  <a:srgbClr val="0070C0"/>
                </a:solidFill>
              </a:rPr>
              <a:t>GenAI</a:t>
            </a:r>
            <a:r>
              <a:rPr lang="en-US" dirty="0" smtClean="0">
                <a:solidFill>
                  <a:srgbClr val="0070C0"/>
                </a:solidFill>
              </a:rPr>
              <a:t> Interfaces</a:t>
            </a:r>
            <a:endParaRPr lang="en-IN" dirty="0">
              <a:solidFill>
                <a:srgbClr val="0070C0"/>
              </a:solidFill>
            </a:endParaRPr>
          </a:p>
        </p:txBody>
      </p:sp>
      <p:sp>
        <p:nvSpPr>
          <p:cNvPr id="3" name="Content Placeholder 2"/>
          <p:cNvSpPr>
            <a:spLocks noGrp="1"/>
          </p:cNvSpPr>
          <p:nvPr>
            <p:ph idx="1"/>
          </p:nvPr>
        </p:nvSpPr>
        <p:spPr/>
        <p:txBody>
          <a:bodyPr>
            <a:normAutofit fontScale="92500"/>
          </a:bodyPr>
          <a:lstStyle/>
          <a:p>
            <a:r>
              <a:rPr lang="en-US" dirty="0"/>
              <a:t>Instead, the LLM “acts” as all the agents at once, inferring and simulating multi-step processes in a monolithic, “one big brain” fashion</a:t>
            </a:r>
            <a:r>
              <a:rPr lang="en-US" dirty="0" smtClean="0"/>
              <a:t>.</a:t>
            </a:r>
          </a:p>
          <a:p>
            <a:r>
              <a:rPr lang="en-US" dirty="0"/>
              <a:t>You get consistent, repeatable </a:t>
            </a:r>
            <a:r>
              <a:rPr lang="en-US" dirty="0" smtClean="0"/>
              <a:t>outputs with less variability.</a:t>
            </a:r>
          </a:p>
          <a:p>
            <a:r>
              <a:rPr lang="en-US" dirty="0"/>
              <a:t>The workflow is reusable for many users, not just ad-hoc to a single session</a:t>
            </a:r>
            <a:r>
              <a:rPr lang="en-US" dirty="0" smtClean="0"/>
              <a:t>.</a:t>
            </a:r>
          </a:p>
          <a:p>
            <a:r>
              <a:rPr lang="en-IN" b="1" dirty="0">
                <a:solidFill>
                  <a:srgbClr val="0070C0"/>
                </a:solidFill>
              </a:rPr>
              <a:t>Transparency &amp; </a:t>
            </a:r>
            <a:r>
              <a:rPr lang="en-IN" b="1" dirty="0" smtClean="0">
                <a:solidFill>
                  <a:srgbClr val="0070C0"/>
                </a:solidFill>
              </a:rPr>
              <a:t>Auditability: </a:t>
            </a:r>
            <a:r>
              <a:rPr lang="en-US" dirty="0"/>
              <a:t>Each agent’s logic, input, and output is visible and can be saved, debugged, and improved.</a:t>
            </a:r>
            <a:endParaRPr lang="en-IN" dirty="0"/>
          </a:p>
        </p:txBody>
      </p:sp>
    </p:spTree>
    <p:extLst>
      <p:ext uri="{BB962C8B-B14F-4D97-AF65-F5344CB8AC3E}">
        <p14:creationId xmlns:p14="http://schemas.microsoft.com/office/powerpoint/2010/main" val="327999775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955575"/>
          </a:xfrm>
        </p:spPr>
        <p:txBody>
          <a:bodyPr/>
          <a:lstStyle/>
          <a:p>
            <a:r>
              <a:rPr lang="en-US" b="1" dirty="0" err="1" smtClean="0">
                <a:solidFill>
                  <a:srgbClr val="0070C0"/>
                </a:solidFill>
              </a:rPr>
              <a:t>AutoGen</a:t>
            </a:r>
            <a:r>
              <a:rPr lang="en-US" b="1" dirty="0" smtClean="0">
                <a:solidFill>
                  <a:srgbClr val="0070C0"/>
                </a:solidFill>
              </a:rPr>
              <a:t> Framework</a:t>
            </a:r>
            <a:endParaRPr lang="en-IN" b="1" dirty="0">
              <a:solidFill>
                <a:srgbClr val="0070C0"/>
              </a:solidFill>
            </a:endParaRPr>
          </a:p>
        </p:txBody>
      </p:sp>
      <p:sp>
        <p:nvSpPr>
          <p:cNvPr id="3" name="Content Placeholder 2"/>
          <p:cNvSpPr>
            <a:spLocks noGrp="1"/>
          </p:cNvSpPr>
          <p:nvPr>
            <p:ph idx="1"/>
          </p:nvPr>
        </p:nvSpPr>
        <p:spPr>
          <a:xfrm>
            <a:off x="982133" y="1700808"/>
            <a:ext cx="7704667" cy="3332816"/>
          </a:xfrm>
        </p:spPr>
        <p:txBody>
          <a:bodyPr>
            <a:normAutofit fontScale="77500" lnSpcReduction="20000"/>
          </a:bodyPr>
          <a:lstStyle/>
          <a:p>
            <a:r>
              <a:rPr lang="en-US" dirty="0"/>
              <a:t>Is a framework specialized for LLM-powered conversational agents (from Microsoft/other open-source projects</a:t>
            </a:r>
            <a:r>
              <a:rPr lang="en-US" dirty="0" smtClean="0"/>
              <a:t>).</a:t>
            </a:r>
          </a:p>
          <a:p>
            <a:r>
              <a:rPr lang="en-US" dirty="0"/>
              <a:t>Communication is through </a:t>
            </a:r>
            <a:r>
              <a:rPr lang="en-US" i="1" dirty="0"/>
              <a:t>message-passing</a:t>
            </a:r>
            <a:r>
              <a:rPr lang="en-US" dirty="0"/>
              <a:t> and dialog turns, abstracting underlying step orchestration</a:t>
            </a:r>
            <a:r>
              <a:rPr lang="en-US" dirty="0" smtClean="0"/>
              <a:t>.</a:t>
            </a:r>
          </a:p>
          <a:p>
            <a:r>
              <a:rPr lang="en-US" dirty="0"/>
              <a:t>Agents can be system/LLM, tool, function, or human proxies</a:t>
            </a:r>
            <a:r>
              <a:rPr lang="en-US" dirty="0" smtClean="0"/>
              <a:t>.</a:t>
            </a:r>
          </a:p>
          <a:p>
            <a:r>
              <a:rPr lang="en-US" dirty="0"/>
              <a:t>Orchestration is via callback/event rules (not a static graph), focusing more on mimicking “humanlike” conversations and dynamic intentions</a:t>
            </a:r>
            <a:r>
              <a:rPr lang="en-US" dirty="0" smtClean="0"/>
              <a:t>.</a:t>
            </a:r>
          </a:p>
          <a:p>
            <a:r>
              <a:rPr lang="en-US" dirty="0"/>
              <a:t>Best for chat-centric or negotiation-style </a:t>
            </a:r>
            <a:r>
              <a:rPr lang="en-US" dirty="0" smtClean="0"/>
              <a:t>workflows less </a:t>
            </a:r>
            <a:r>
              <a:rPr lang="en-US" dirty="0"/>
              <a:t>rigid than a </a:t>
            </a:r>
            <a:r>
              <a:rPr lang="en-IN" dirty="0"/>
              <a:t>Directed Acyclic </a:t>
            </a:r>
            <a:r>
              <a:rPr lang="en-IN" dirty="0" smtClean="0"/>
              <a:t>Graph (</a:t>
            </a:r>
            <a:r>
              <a:rPr lang="en-US" dirty="0" smtClean="0"/>
              <a:t>DAG), </a:t>
            </a:r>
            <a:r>
              <a:rPr lang="en-US" dirty="0"/>
              <a:t>more “organic</a:t>
            </a:r>
            <a:r>
              <a:rPr lang="en-US" dirty="0" smtClean="0"/>
              <a:t>.”</a:t>
            </a:r>
          </a:p>
          <a:p>
            <a:r>
              <a:rPr lang="en-US" dirty="0"/>
              <a:t>No explicit, persistent </a:t>
            </a:r>
            <a:r>
              <a:rPr lang="en-US" dirty="0" smtClean="0"/>
              <a:t>check pointing/backing </a:t>
            </a:r>
            <a:r>
              <a:rPr lang="en-US" dirty="0"/>
              <a:t>store by default (but you can export dialogue histories).</a:t>
            </a:r>
            <a:endParaRPr lang="en-IN" b="1" dirty="0"/>
          </a:p>
        </p:txBody>
      </p:sp>
    </p:spTree>
    <p:extLst>
      <p:ext uri="{BB962C8B-B14F-4D97-AF65-F5344CB8AC3E}">
        <p14:creationId xmlns:p14="http://schemas.microsoft.com/office/powerpoint/2010/main" val="261684829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35696" y="332656"/>
            <a:ext cx="6429375" cy="6010275"/>
          </a:xfrm>
          <a:prstGeom prst="rect">
            <a:avLst/>
          </a:prstGeom>
        </p:spPr>
      </p:pic>
    </p:spTree>
    <p:extLst>
      <p:ext uri="{BB962C8B-B14F-4D97-AF65-F5344CB8AC3E}">
        <p14:creationId xmlns:p14="http://schemas.microsoft.com/office/powerpoint/2010/main" val="357143367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5616" y="980728"/>
            <a:ext cx="7704667" cy="4824536"/>
          </a:xfrm>
        </p:spPr>
        <p:txBody>
          <a:bodyPr>
            <a:normAutofit fontScale="92500"/>
          </a:bodyPr>
          <a:lstStyle/>
          <a:p>
            <a:r>
              <a:rPr lang="en-US" b="1" dirty="0" err="1">
                <a:solidFill>
                  <a:srgbClr val="0070C0"/>
                </a:solidFill>
              </a:rPr>
              <a:t>LangGraph</a:t>
            </a:r>
            <a:r>
              <a:rPr lang="en-US" dirty="0">
                <a:solidFill>
                  <a:srgbClr val="0070C0"/>
                </a:solidFill>
              </a:rPr>
              <a:t>:</a:t>
            </a:r>
            <a:r>
              <a:rPr lang="en-US" dirty="0"/>
              <a:t/>
            </a:r>
            <a:br>
              <a:rPr lang="en-US" dirty="0"/>
            </a:br>
            <a:r>
              <a:rPr lang="en-US" dirty="0"/>
              <a:t>Best for complex, multi-stage, auditable automation where you want determinism, </a:t>
            </a:r>
            <a:r>
              <a:rPr lang="en-US" dirty="0" err="1"/>
              <a:t>checkpointing</a:t>
            </a:r>
            <a:r>
              <a:rPr lang="en-US" dirty="0"/>
              <a:t>, and control, even in non-chat contexts. Great for production pipelines and orchestration. (</a:t>
            </a:r>
            <a:r>
              <a:rPr lang="en-US" dirty="0">
                <a:solidFill>
                  <a:srgbClr val="0070C0"/>
                </a:solidFill>
              </a:rPr>
              <a:t>If you have a very structured, multi-tool business workflow, </a:t>
            </a:r>
            <a:r>
              <a:rPr lang="en-US" dirty="0" err="1">
                <a:solidFill>
                  <a:srgbClr val="0070C0"/>
                </a:solidFill>
              </a:rPr>
              <a:t>LangGraph</a:t>
            </a:r>
            <a:r>
              <a:rPr lang="en-US" dirty="0">
                <a:solidFill>
                  <a:srgbClr val="0070C0"/>
                </a:solidFill>
              </a:rPr>
              <a:t> is likely </a:t>
            </a:r>
            <a:r>
              <a:rPr lang="en-US" dirty="0" smtClean="0">
                <a:solidFill>
                  <a:srgbClr val="0070C0"/>
                </a:solidFill>
              </a:rPr>
              <a:t>superior</a:t>
            </a:r>
            <a:r>
              <a:rPr lang="en-US" dirty="0" smtClean="0"/>
              <a:t>)</a:t>
            </a:r>
          </a:p>
          <a:p>
            <a:r>
              <a:rPr lang="en-US" b="1" dirty="0" err="1">
                <a:solidFill>
                  <a:srgbClr val="0070C0"/>
                </a:solidFill>
              </a:rPr>
              <a:t>AutoGen</a:t>
            </a:r>
            <a:r>
              <a:rPr lang="en-US" dirty="0">
                <a:solidFill>
                  <a:srgbClr val="0070C0"/>
                </a:solidFill>
              </a:rPr>
              <a:t>:</a:t>
            </a:r>
            <a:r>
              <a:rPr lang="en-US" dirty="0"/>
              <a:t/>
            </a:r>
            <a:br>
              <a:rPr lang="en-US" dirty="0"/>
            </a:br>
            <a:r>
              <a:rPr lang="en-US" dirty="0"/>
              <a:t>Best for dynamic, interactive, conversational multi-agent demos, “AI chats with itself,” or LLM research where imitation of humanlike collaboration is the main focus</a:t>
            </a:r>
            <a:r>
              <a:rPr lang="en-US" dirty="0" smtClean="0"/>
              <a:t>.</a:t>
            </a:r>
          </a:p>
          <a:p>
            <a:pPr marL="0" indent="0">
              <a:buNone/>
            </a:pPr>
            <a:r>
              <a:rPr lang="en-US" dirty="0"/>
              <a:t>(</a:t>
            </a:r>
            <a:r>
              <a:rPr lang="en-US" dirty="0">
                <a:solidFill>
                  <a:srgbClr val="0070C0"/>
                </a:solidFill>
              </a:rPr>
              <a:t>If you want an LLM-driven “chat amongst AI agents” with flexible, natural dialog, exploration, or collaboration, </a:t>
            </a:r>
            <a:r>
              <a:rPr lang="en-US" dirty="0" err="1">
                <a:solidFill>
                  <a:srgbClr val="0070C0"/>
                </a:solidFill>
              </a:rPr>
              <a:t>AutoGen</a:t>
            </a:r>
            <a:r>
              <a:rPr lang="en-US" dirty="0">
                <a:solidFill>
                  <a:srgbClr val="0070C0"/>
                </a:solidFill>
              </a:rPr>
              <a:t> is a great </a:t>
            </a:r>
            <a:r>
              <a:rPr lang="en-US" dirty="0" smtClean="0">
                <a:solidFill>
                  <a:srgbClr val="0070C0"/>
                </a:solidFill>
              </a:rPr>
              <a:t>choice</a:t>
            </a:r>
            <a:r>
              <a:rPr lang="en-US" dirty="0" smtClean="0"/>
              <a:t>)</a:t>
            </a:r>
            <a:endParaRPr lang="en-IN" dirty="0"/>
          </a:p>
        </p:txBody>
      </p:sp>
    </p:spTree>
    <p:extLst>
      <p:ext uri="{BB962C8B-B14F-4D97-AF65-F5344CB8AC3E}">
        <p14:creationId xmlns:p14="http://schemas.microsoft.com/office/powerpoint/2010/main" val="39228795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811559"/>
          </a:xfrm>
        </p:spPr>
        <p:txBody>
          <a:bodyPr/>
          <a:lstStyle/>
          <a:p>
            <a:r>
              <a:rPr lang="en-US" b="1" dirty="0" err="1" smtClean="0">
                <a:solidFill>
                  <a:srgbClr val="0070C0"/>
                </a:solidFill>
              </a:rPr>
              <a:t>CrewAI</a:t>
            </a:r>
            <a:endParaRPr lang="en-IN" b="1" dirty="0">
              <a:solidFill>
                <a:srgbClr val="0070C0"/>
              </a:solidFill>
            </a:endParaRPr>
          </a:p>
        </p:txBody>
      </p:sp>
      <p:sp>
        <p:nvSpPr>
          <p:cNvPr id="3" name="Content Placeholder 2"/>
          <p:cNvSpPr>
            <a:spLocks noGrp="1"/>
          </p:cNvSpPr>
          <p:nvPr>
            <p:ph idx="1"/>
          </p:nvPr>
        </p:nvSpPr>
        <p:spPr>
          <a:xfrm>
            <a:off x="982133" y="1916832"/>
            <a:ext cx="7704667" cy="4082984"/>
          </a:xfrm>
        </p:spPr>
        <p:txBody>
          <a:bodyPr/>
          <a:lstStyle/>
          <a:p>
            <a:r>
              <a:rPr lang="en-IN" dirty="0"/>
              <a:t>After mastering </a:t>
            </a:r>
            <a:r>
              <a:rPr lang="en-IN" b="1" dirty="0" err="1">
                <a:solidFill>
                  <a:srgbClr val="0070C0"/>
                </a:solidFill>
              </a:rPr>
              <a:t>LangChain</a:t>
            </a:r>
            <a:r>
              <a:rPr lang="en-IN" dirty="0">
                <a:solidFill>
                  <a:srgbClr val="0070C0"/>
                </a:solidFill>
              </a:rPr>
              <a:t> </a:t>
            </a:r>
            <a:r>
              <a:rPr lang="en-IN" dirty="0"/>
              <a:t>for single agents and </a:t>
            </a:r>
            <a:r>
              <a:rPr lang="en-IN" b="1" dirty="0" err="1">
                <a:solidFill>
                  <a:srgbClr val="0070C0"/>
                </a:solidFill>
              </a:rPr>
              <a:t>LangGraph</a:t>
            </a:r>
            <a:r>
              <a:rPr lang="en-IN" dirty="0"/>
              <a:t> for orchestrated workflows, and understanding </a:t>
            </a:r>
            <a:r>
              <a:rPr lang="en-IN" b="1" dirty="0" err="1">
                <a:solidFill>
                  <a:srgbClr val="0070C0"/>
                </a:solidFill>
              </a:rPr>
              <a:t>AutoGen</a:t>
            </a:r>
            <a:r>
              <a:rPr lang="en-IN" dirty="0"/>
              <a:t> for multi-agent chat-driven collaboration, </a:t>
            </a:r>
            <a:r>
              <a:rPr lang="en-IN" b="1" dirty="0" err="1">
                <a:solidFill>
                  <a:srgbClr val="0070C0"/>
                </a:solidFill>
              </a:rPr>
              <a:t>CrewAI</a:t>
            </a:r>
            <a:r>
              <a:rPr lang="en-IN" b="1" dirty="0">
                <a:solidFill>
                  <a:srgbClr val="0070C0"/>
                </a:solidFill>
              </a:rPr>
              <a:t> steps in for scalable multi-agent teamwork</a:t>
            </a:r>
            <a:r>
              <a:rPr lang="en-IN" dirty="0"/>
              <a:t> beyond simple chat or graph flows</a:t>
            </a:r>
            <a:r>
              <a:rPr lang="en-IN" dirty="0" smtClean="0"/>
              <a:t>.</a:t>
            </a:r>
          </a:p>
          <a:p>
            <a:r>
              <a:rPr lang="en-US" dirty="0"/>
              <a:t>It integrates lessons from both: structured task flows and natural conversational dynamics, with a focus on </a:t>
            </a:r>
            <a:r>
              <a:rPr lang="en-US" b="1" dirty="0">
                <a:solidFill>
                  <a:srgbClr val="0070C0"/>
                </a:solidFill>
              </a:rPr>
              <a:t>distributed collaboration and operational scalability</a:t>
            </a:r>
            <a:r>
              <a:rPr lang="en-US" dirty="0"/>
              <a:t>.</a:t>
            </a:r>
            <a:endParaRPr lang="en-IN" dirty="0"/>
          </a:p>
        </p:txBody>
      </p:sp>
    </p:spTree>
    <p:extLst>
      <p:ext uri="{BB962C8B-B14F-4D97-AF65-F5344CB8AC3E}">
        <p14:creationId xmlns:p14="http://schemas.microsoft.com/office/powerpoint/2010/main" val="158038734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stretch>
            <a:fillRect/>
          </a:stretch>
        </p:blipFill>
        <p:spPr>
          <a:xfrm>
            <a:off x="1331640" y="404663"/>
            <a:ext cx="7053455" cy="5366149"/>
          </a:xfrm>
          <a:prstGeom prst="rect">
            <a:avLst/>
          </a:prstGeom>
        </p:spPr>
      </p:pic>
    </p:spTree>
    <p:extLst>
      <p:ext uri="{BB962C8B-B14F-4D97-AF65-F5344CB8AC3E}">
        <p14:creationId xmlns:p14="http://schemas.microsoft.com/office/powerpoint/2010/main" val="37956902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91680" y="260648"/>
            <a:ext cx="6120680" cy="5912696"/>
          </a:xfrm>
          <a:prstGeom prst="rect">
            <a:avLst/>
          </a:prstGeom>
        </p:spPr>
      </p:pic>
    </p:spTree>
    <p:extLst>
      <p:ext uri="{BB962C8B-B14F-4D97-AF65-F5344CB8AC3E}">
        <p14:creationId xmlns:p14="http://schemas.microsoft.com/office/powerpoint/2010/main" val="284998953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15616" y="548680"/>
            <a:ext cx="7848872" cy="5472608"/>
          </a:xfrm>
          <a:prstGeom prst="rect">
            <a:avLst/>
          </a:prstGeom>
        </p:spPr>
      </p:pic>
    </p:spTree>
    <p:extLst>
      <p:ext uri="{BB962C8B-B14F-4D97-AF65-F5344CB8AC3E}">
        <p14:creationId xmlns:p14="http://schemas.microsoft.com/office/powerpoint/2010/main" val="46857674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87624" y="908720"/>
            <a:ext cx="7689526" cy="4896544"/>
          </a:xfrm>
          <a:prstGeom prst="rect">
            <a:avLst/>
          </a:prstGeom>
        </p:spPr>
      </p:pic>
    </p:spTree>
    <p:extLst>
      <p:ext uri="{BB962C8B-B14F-4D97-AF65-F5344CB8AC3E}">
        <p14:creationId xmlns:p14="http://schemas.microsoft.com/office/powerpoint/2010/main" val="19248502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19672" y="548680"/>
            <a:ext cx="6336704" cy="5569934"/>
          </a:xfrm>
          <a:prstGeom prst="rect">
            <a:avLst/>
          </a:prstGeom>
        </p:spPr>
      </p:pic>
    </p:spTree>
    <p:extLst>
      <p:ext uri="{BB962C8B-B14F-4D97-AF65-F5344CB8AC3E}">
        <p14:creationId xmlns:p14="http://schemas.microsoft.com/office/powerpoint/2010/main" val="42915675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07704" y="188640"/>
            <a:ext cx="5581107" cy="6420197"/>
          </a:xfrm>
          <a:prstGeom prst="rect">
            <a:avLst/>
          </a:prstGeom>
        </p:spPr>
      </p:pic>
    </p:spTree>
    <p:extLst>
      <p:ext uri="{BB962C8B-B14F-4D97-AF65-F5344CB8AC3E}">
        <p14:creationId xmlns:p14="http://schemas.microsoft.com/office/powerpoint/2010/main" val="14684626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03648" y="2132856"/>
            <a:ext cx="6867525" cy="2486025"/>
          </a:xfrm>
          <a:prstGeom prst="rect">
            <a:avLst/>
          </a:prstGeom>
        </p:spPr>
      </p:pic>
    </p:spTree>
    <p:extLst>
      <p:ext uri="{BB962C8B-B14F-4D97-AF65-F5344CB8AC3E}">
        <p14:creationId xmlns:p14="http://schemas.microsoft.com/office/powerpoint/2010/main" val="26500214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387623"/>
          </a:xfrm>
        </p:spPr>
        <p:txBody>
          <a:bodyPr/>
          <a:lstStyle/>
          <a:p>
            <a:r>
              <a:rPr lang="en-US" b="1" dirty="0" smtClean="0">
                <a:solidFill>
                  <a:srgbClr val="002060"/>
                </a:solidFill>
              </a:rPr>
              <a:t>Why MCP?</a:t>
            </a:r>
            <a:endParaRPr lang="en-IN" b="1" dirty="0">
              <a:solidFill>
                <a:srgbClr val="002060"/>
              </a:solidFill>
            </a:endParaRPr>
          </a:p>
        </p:txBody>
      </p:sp>
      <p:sp>
        <p:nvSpPr>
          <p:cNvPr id="3" name="Content Placeholder 2"/>
          <p:cNvSpPr>
            <a:spLocks noGrp="1"/>
          </p:cNvSpPr>
          <p:nvPr>
            <p:ph idx="1"/>
          </p:nvPr>
        </p:nvSpPr>
        <p:spPr>
          <a:xfrm>
            <a:off x="827584" y="1700808"/>
            <a:ext cx="7704667" cy="3332816"/>
          </a:xfrm>
        </p:spPr>
        <p:txBody>
          <a:bodyPr>
            <a:normAutofit/>
          </a:bodyPr>
          <a:lstStyle/>
          <a:p>
            <a:pPr marL="0" indent="0" algn="ctr">
              <a:buNone/>
            </a:pPr>
            <a:r>
              <a:rPr lang="en-US" sz="4000" b="1" dirty="0" smtClean="0"/>
              <a:t>Models are only as good as the context given to them</a:t>
            </a:r>
            <a:endParaRPr lang="en-IN" sz="4000" b="1" dirty="0"/>
          </a:p>
        </p:txBody>
      </p:sp>
    </p:spTree>
    <p:extLst>
      <p:ext uri="{BB962C8B-B14F-4D97-AF65-F5344CB8AC3E}">
        <p14:creationId xmlns:p14="http://schemas.microsoft.com/office/powerpoint/2010/main" val="16066229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71600" y="1484784"/>
            <a:ext cx="7962027" cy="4371309"/>
          </a:xfrm>
          <a:prstGeom prst="rect">
            <a:avLst/>
          </a:prstGeom>
        </p:spPr>
      </p:pic>
    </p:spTree>
    <p:extLst>
      <p:ext uri="{BB962C8B-B14F-4D97-AF65-F5344CB8AC3E}">
        <p14:creationId xmlns:p14="http://schemas.microsoft.com/office/powerpoint/2010/main" val="27839369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13456" y="2421863"/>
            <a:ext cx="7673344" cy="3582887"/>
          </a:xfrm>
          <a:prstGeom prst="rect">
            <a:avLst/>
          </a:prstGeom>
        </p:spPr>
      </p:pic>
      <p:sp>
        <p:nvSpPr>
          <p:cNvPr id="5" name="Title 4"/>
          <p:cNvSpPr>
            <a:spLocks noGrp="1"/>
          </p:cNvSpPr>
          <p:nvPr>
            <p:ph type="title"/>
          </p:nvPr>
        </p:nvSpPr>
        <p:spPr/>
        <p:txBody>
          <a:bodyPr/>
          <a:lstStyle/>
          <a:p>
            <a:r>
              <a:rPr lang="en-US" b="1" dirty="0" smtClean="0">
                <a:solidFill>
                  <a:srgbClr val="002060"/>
                </a:solidFill>
              </a:rPr>
              <a:t>Without MCP: Fragmented AI Development</a:t>
            </a:r>
            <a:endParaRPr lang="en-IN" b="1" dirty="0">
              <a:solidFill>
                <a:srgbClr val="002060"/>
              </a:solidFill>
            </a:endParaRPr>
          </a:p>
        </p:txBody>
      </p:sp>
    </p:spTree>
    <p:extLst>
      <p:ext uri="{BB962C8B-B14F-4D97-AF65-F5344CB8AC3E}">
        <p14:creationId xmlns:p14="http://schemas.microsoft.com/office/powerpoint/2010/main" val="37270732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115616" y="980728"/>
            <a:ext cx="7560840" cy="4902732"/>
          </a:xfrm>
          <a:prstGeom prst="rect">
            <a:avLst/>
          </a:prstGeom>
        </p:spPr>
      </p:pic>
    </p:spTree>
    <p:extLst>
      <p:ext uri="{BB962C8B-B14F-4D97-AF65-F5344CB8AC3E}">
        <p14:creationId xmlns:p14="http://schemas.microsoft.com/office/powerpoint/2010/main" val="2333926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99592" y="764704"/>
            <a:ext cx="7834858" cy="4983259"/>
          </a:xfrm>
          <a:prstGeom prst="rect">
            <a:avLst/>
          </a:prstGeom>
        </p:spPr>
      </p:pic>
    </p:spTree>
    <p:extLst>
      <p:ext uri="{BB962C8B-B14F-4D97-AF65-F5344CB8AC3E}">
        <p14:creationId xmlns:p14="http://schemas.microsoft.com/office/powerpoint/2010/main" val="24081361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43608" y="764704"/>
            <a:ext cx="7920880" cy="5042797"/>
          </a:xfrm>
          <a:prstGeom prst="rect">
            <a:avLst/>
          </a:prstGeom>
        </p:spPr>
      </p:pic>
    </p:spTree>
    <p:extLst>
      <p:ext uri="{BB962C8B-B14F-4D97-AF65-F5344CB8AC3E}">
        <p14:creationId xmlns:p14="http://schemas.microsoft.com/office/powerpoint/2010/main" val="28149268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2060"/>
                </a:solidFill>
              </a:rPr>
              <a:t>Defining a Tool (Python MCP SDK)</a:t>
            </a:r>
            <a:endParaRPr lang="en-IN" b="1" dirty="0">
              <a:solidFill>
                <a:srgbClr val="002060"/>
              </a:solidFill>
            </a:endParaRPr>
          </a:p>
        </p:txBody>
      </p:sp>
      <p:pic>
        <p:nvPicPr>
          <p:cNvPr id="4" name="Content Placeholder 3"/>
          <p:cNvPicPr>
            <a:picLocks noGrp="1" noChangeAspect="1"/>
          </p:cNvPicPr>
          <p:nvPr>
            <p:ph idx="4294967295"/>
          </p:nvPr>
        </p:nvPicPr>
        <p:blipFill>
          <a:blip r:embed="rId2"/>
          <a:stretch>
            <a:fillRect/>
          </a:stretch>
        </p:blipFill>
        <p:spPr>
          <a:xfrm>
            <a:off x="2771800" y="2132856"/>
            <a:ext cx="3960440" cy="4462139"/>
          </a:xfrm>
          <a:prstGeom prst="rect">
            <a:avLst/>
          </a:prstGeom>
        </p:spPr>
      </p:pic>
    </p:spTree>
    <p:extLst>
      <p:ext uri="{BB962C8B-B14F-4D97-AF65-F5344CB8AC3E}">
        <p14:creationId xmlns:p14="http://schemas.microsoft.com/office/powerpoint/2010/main" val="20502119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71600" y="1196752"/>
            <a:ext cx="7992888" cy="4681160"/>
          </a:xfrm>
          <a:prstGeom prst="rect">
            <a:avLst/>
          </a:prstGeom>
        </p:spPr>
      </p:pic>
    </p:spTree>
    <p:extLst>
      <p:ext uri="{BB962C8B-B14F-4D97-AF65-F5344CB8AC3E}">
        <p14:creationId xmlns:p14="http://schemas.microsoft.com/office/powerpoint/2010/main" val="25159628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971600" y="692696"/>
            <a:ext cx="7920880" cy="5036220"/>
          </a:xfrm>
          <a:prstGeom prst="rect">
            <a:avLst/>
          </a:prstGeom>
        </p:spPr>
      </p:pic>
    </p:spTree>
    <p:extLst>
      <p:ext uri="{BB962C8B-B14F-4D97-AF65-F5344CB8AC3E}">
        <p14:creationId xmlns:p14="http://schemas.microsoft.com/office/powerpoint/2010/main" val="17545607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99621" y="1268760"/>
            <a:ext cx="8100363" cy="4392488"/>
          </a:xfrm>
          <a:prstGeom prst="rect">
            <a:avLst/>
          </a:prstGeom>
        </p:spPr>
      </p:pic>
    </p:spTree>
    <p:extLst>
      <p:ext uri="{BB962C8B-B14F-4D97-AF65-F5344CB8AC3E}">
        <p14:creationId xmlns:p14="http://schemas.microsoft.com/office/powerpoint/2010/main" val="16780280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43608" y="1484784"/>
            <a:ext cx="7776864" cy="4248472"/>
          </a:xfrm>
          <a:prstGeom prst="rect">
            <a:avLst/>
          </a:prstGeom>
        </p:spPr>
      </p:pic>
    </p:spTree>
    <p:extLst>
      <p:ext uri="{BB962C8B-B14F-4D97-AF65-F5344CB8AC3E}">
        <p14:creationId xmlns:p14="http://schemas.microsoft.com/office/powerpoint/2010/main" val="22711322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15616" y="1052736"/>
            <a:ext cx="7524626" cy="4464496"/>
          </a:xfrm>
          <a:prstGeom prst="rect">
            <a:avLst/>
          </a:prstGeom>
        </p:spPr>
      </p:pic>
    </p:spTree>
    <p:extLst>
      <p:ext uri="{BB962C8B-B14F-4D97-AF65-F5344CB8AC3E}">
        <p14:creationId xmlns:p14="http://schemas.microsoft.com/office/powerpoint/2010/main" val="24362337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71600" y="1052736"/>
            <a:ext cx="7990428" cy="4774363"/>
          </a:xfrm>
          <a:prstGeom prst="rect">
            <a:avLst/>
          </a:prstGeom>
        </p:spPr>
      </p:pic>
    </p:spTree>
    <p:extLst>
      <p:ext uri="{BB962C8B-B14F-4D97-AF65-F5344CB8AC3E}">
        <p14:creationId xmlns:p14="http://schemas.microsoft.com/office/powerpoint/2010/main" val="42062161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71600" y="1196752"/>
            <a:ext cx="7989635" cy="4408074"/>
          </a:xfrm>
          <a:prstGeom prst="rect">
            <a:avLst/>
          </a:prstGeom>
        </p:spPr>
      </p:pic>
    </p:spTree>
    <p:extLst>
      <p:ext uri="{BB962C8B-B14F-4D97-AF65-F5344CB8AC3E}">
        <p14:creationId xmlns:p14="http://schemas.microsoft.com/office/powerpoint/2010/main" val="26554991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31640" y="476672"/>
            <a:ext cx="7422869" cy="5688632"/>
          </a:xfrm>
          <a:prstGeom prst="rect">
            <a:avLst/>
          </a:prstGeom>
        </p:spPr>
      </p:pic>
    </p:spTree>
    <p:extLst>
      <p:ext uri="{BB962C8B-B14F-4D97-AF65-F5344CB8AC3E}">
        <p14:creationId xmlns:p14="http://schemas.microsoft.com/office/powerpoint/2010/main" val="35240330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dirty="0">
                <a:solidFill>
                  <a:srgbClr val="002060"/>
                </a:solidFill>
              </a:rPr>
              <a:t>Thank You</a:t>
            </a:r>
          </a:p>
        </p:txBody>
      </p:sp>
      <p:sp>
        <p:nvSpPr>
          <p:cNvPr id="3" name="Content Placeholder 2"/>
          <p:cNvSpPr>
            <a:spLocks noGrp="1"/>
          </p:cNvSpPr>
          <p:nvPr>
            <p:ph idx="1"/>
          </p:nvPr>
        </p:nvSpPr>
        <p:spPr/>
        <p:txBody>
          <a:bodyPr/>
          <a:lstStyle/>
          <a:p>
            <a:pPr algn="ctr"/>
            <a:endParaRPr lang="en-IN" dirty="0">
              <a:hlinkClick r:id="rId2"/>
            </a:endParaRPr>
          </a:p>
          <a:p>
            <a:pPr algn="ctr"/>
            <a:endParaRPr lang="en-IN" dirty="0">
              <a:hlinkClick r:id="rId2"/>
            </a:endParaRPr>
          </a:p>
          <a:p>
            <a:pPr algn="ctr"/>
            <a:r>
              <a:rPr lang="en-IN" dirty="0">
                <a:hlinkClick r:id="rId2"/>
              </a:rPr>
              <a:t>https://learnaiwithanand.com</a:t>
            </a:r>
          </a:p>
          <a:p>
            <a:pPr algn="ctr">
              <a:buNone/>
            </a:pPr>
            <a:r>
              <a:rPr lang="en-IN" dirty="0">
                <a:hlinkClick r:id="rId2"/>
              </a:rPr>
              <a:t>dranand.scs@gmail.com</a:t>
            </a:r>
            <a:endParaRPr lang="en-IN" dirty="0"/>
          </a:p>
          <a:p>
            <a:pPr algn="ctr"/>
            <a:endParaRPr lang="en-IN"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6083</TotalTime>
  <Words>1349</Words>
  <Application>Microsoft Office PowerPoint</Application>
  <PresentationFormat>On-screen Show (4:3)</PresentationFormat>
  <Paragraphs>124</Paragraphs>
  <Slides>55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55</vt:i4>
      </vt:variant>
    </vt:vector>
  </HeadingPairs>
  <TitlesOfParts>
    <vt:vector size="59" baseType="lpstr">
      <vt:lpstr>Arial</vt:lpstr>
      <vt:lpstr>Calibri</vt:lpstr>
      <vt:lpstr>Corbel</vt:lpstr>
      <vt:lpstr>Parallax</vt:lpstr>
      <vt:lpstr>Multi - Agentic AI Frameworks Course Code: MMAAI</vt:lpstr>
      <vt:lpstr>AI Agents Vs Agentic AI</vt:lpstr>
      <vt:lpstr>Key Difference</vt:lpstr>
      <vt:lpstr>Agentic AI Frameworks</vt:lpstr>
      <vt:lpstr>PowerPoint Presentation</vt:lpstr>
      <vt:lpstr>LangChain</vt:lpstr>
      <vt:lpstr>Lab1 : Building a ReACT-Loop Conversational Agent With Tools </vt:lpstr>
      <vt:lpstr>Prompt Engineering &amp;  ReAct Loops </vt:lpstr>
      <vt:lpstr>Tools/Actions </vt:lpstr>
      <vt:lpstr>PowerPoint Presentation</vt:lpstr>
      <vt:lpstr>LangChain Prompts</vt:lpstr>
      <vt:lpstr>LangChain Tools</vt:lpstr>
      <vt:lpstr>Lang Graph</vt:lpstr>
      <vt:lpstr>Graph Nodes &amp; Conditional Edges </vt:lpstr>
      <vt:lpstr>PowerPoint Presentation</vt:lpstr>
      <vt:lpstr>PowerPoint Presentation</vt:lpstr>
      <vt:lpstr> Lab4 demonstrates how to build a more advanced,  modular AI agent using graph-based workflows LangGraph  together with LangChain and OpenAI APIs  </vt:lpstr>
      <vt:lpstr>PowerPoint Presentation</vt:lpstr>
      <vt:lpstr>PowerPoint Presentation</vt:lpstr>
      <vt:lpstr>PowerPoint Presentation</vt:lpstr>
      <vt:lpstr>Agentic Search Tools</vt:lpstr>
      <vt:lpstr>PowerPoint Presentation</vt:lpstr>
      <vt:lpstr>Persistence and Streaming</vt:lpstr>
      <vt:lpstr>PowerPoint Presentation</vt:lpstr>
      <vt:lpstr>Example Use Case </vt:lpstr>
      <vt:lpstr>Scope of Pydantic in the context of Agentic AI</vt:lpstr>
      <vt:lpstr>PowerPoint Presentation</vt:lpstr>
      <vt:lpstr>The Whole Process as a Prompt through commercial GenAI Interfaces</vt:lpstr>
      <vt:lpstr>AutoGen Framework</vt:lpstr>
      <vt:lpstr>PowerPoint Presentation</vt:lpstr>
      <vt:lpstr>PowerPoint Presentation</vt:lpstr>
      <vt:lpstr>CrewAI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MCP?</vt:lpstr>
      <vt:lpstr>PowerPoint Presentation</vt:lpstr>
      <vt:lpstr>Without MCP: Fragmented AI Development</vt:lpstr>
      <vt:lpstr>PowerPoint Presentation</vt:lpstr>
      <vt:lpstr>PowerPoint Presentation</vt:lpstr>
      <vt:lpstr>PowerPoint Presentation</vt:lpstr>
      <vt:lpstr>Defining a Tool (Python MCP SDK)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WIN</cp:lastModifiedBy>
  <cp:revision>249</cp:revision>
  <dcterms:created xsi:type="dcterms:W3CDTF">2013-08-21T19:17:07Z</dcterms:created>
  <dcterms:modified xsi:type="dcterms:W3CDTF">2025-08-26T06:22:11Z</dcterms:modified>
</cp:coreProperties>
</file>